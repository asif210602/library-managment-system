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60" r:id="rId5"/>
    <p:sldId id="261" r:id="rId6"/>
    <p:sldId id="262" r:id="rId7"/>
    <p:sldId id="259" r:id="rId8"/>
    <p:sldId id="263" r:id="rId9"/>
    <p:sldId id="264" r:id="rId10"/>
    <p:sldId id="265" r:id="rId11"/>
    <p:sldId id="266" r:id="rId12"/>
    <p:sldId id="267" r:id="rId13"/>
    <p:sldId id="268" r:id="rId14"/>
    <p:sldId id="269" r:id="rId15"/>
    <p:sldId id="270" r:id="rId16"/>
    <p:sldId id="271" r:id="rId17"/>
    <p:sldId id="276" r:id="rId18"/>
    <p:sldId id="272" r:id="rId19"/>
    <p:sldId id="273" r:id="rId20"/>
    <p:sldId id="274" r:id="rId21"/>
    <p:sldId id="27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2616"/>
    <a:srgbClr val="00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236"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A787E5-9F04-4804-BDAC-A53E87667F53}" type="datetimeFigureOut">
              <a:rPr lang="en-US" smtClean="0"/>
              <a:t>8/19/2025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EC5647-32D3-4B0C-9A65-2D717036EEE3}" type="slidenum">
              <a:rPr lang="en-US" smtClean="0"/>
              <a:t>‹#›</a:t>
            </a:fld>
            <a:endParaRPr lang="en-US"/>
          </a:p>
        </p:txBody>
      </p:sp>
    </p:spTree>
    <p:extLst>
      <p:ext uri="{BB962C8B-B14F-4D97-AF65-F5344CB8AC3E}">
        <p14:creationId xmlns:p14="http://schemas.microsoft.com/office/powerpoint/2010/main" val="3022899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17" name="Footer Placeholder 16"/>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29" name="Slide Number Placeholder 28"/>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5" name="Footer Placeholder 4"/>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5" name="Footer Placeholder 4"/>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6" name="Footer Placeholder 5"/>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7" name="Slide Number Placeholder 6"/>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8" name="Footer Placeholder 7"/>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9" name="Slide Number Placeholder 8"/>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4" name="Footer Placeholder 3"/>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5" name="Slide Number Placeholder 4"/>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3" name="Footer Placeholder 2"/>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4" name="Slide Number Placeholder 3"/>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6" name="Footer Placeholder 5"/>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7" name="Slide Number Placeholder 6"/>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6" name="Footer Placeholder 5"/>
          <p:cNvSpPr>
            <a:spLocks noGrp="1"/>
          </p:cNvSpPr>
          <p:nvPr>
            <p:ph type="ftr" sz="quarter" idx="11"/>
          </p:nvPr>
        </p:nvSpPr>
        <p:spPr>
          <a:xfrm>
            <a:off x="914400" y="55499"/>
            <a:ext cx="5562600" cy="365125"/>
          </a:xfrm>
        </p:spPr>
        <p:txBody>
          <a:bodyPr/>
          <a:lstStyle>
            <a:extLst/>
          </a:lstStyle>
          <a:p>
            <a:pPr algn="r" eaLnBrk="1" latinLnBrk="0" hangingPunct="1"/>
            <a:endParaRPr kumimoji="0" lang="en-US" sz="1100" dirty="0">
              <a:solidFill>
                <a:schemeClr val="tx2"/>
              </a:solidFill>
            </a:endParaRPr>
          </a:p>
        </p:txBody>
      </p:sp>
      <p:sp>
        <p:nvSpPr>
          <p:cNvPr id="7" name="Slide Number Placeholder 6"/>
          <p:cNvSpPr>
            <a:spLocks noGrp="1"/>
          </p:cNvSpPr>
          <p:nvPr>
            <p:ph type="sldNum" sz="quarter" idx="12"/>
          </p:nvPr>
        </p:nvSpPr>
        <p:spPr>
          <a:xfrm>
            <a:off x="8610600" y="55499"/>
            <a:ext cx="457200" cy="365125"/>
          </a:xfrm>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5" name="Footer Placeholder 4"/>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5" name="Footer Placeholder 4"/>
          <p:cNvSpPr>
            <a:spLocks noGrp="1"/>
          </p:cNvSpPr>
          <p:nvPr>
            <p:ph type="ftr" sz="quarter" idx="11"/>
          </p:nvPr>
        </p:nvSpPr>
        <p:spPr/>
        <p:txBody>
          <a:bodyPr/>
          <a:lstStyle>
            <a:extLst/>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pPr eaLnBrk="1" latinLnBrk="0" hangingPunct="1"/>
            <a:fld id="{8F6BCBE8-30B0-4476-8762-9236B142003A}" type="datetimeFigureOut">
              <a:rPr lang="en-US" smtClean="0"/>
              <a:pPr eaLnBrk="1" latinLnBrk="0" hangingPunct="1"/>
              <a:t>8/19/2025</a:t>
            </a:fld>
            <a:endParaRPr lang="en-US" sz="1100" dirty="0">
              <a:solidFill>
                <a:schemeClr val="tx2"/>
              </a:solidFill>
            </a:endParaRPr>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pPr algn="r" eaLnBrk="1" latinLnBrk="0" hangingPunct="1"/>
            <a:endParaRPr kumimoji="0" lang="en-US" sz="1100" dirty="0">
              <a:solidFill>
                <a:schemeClr val="tx2"/>
              </a:solidFill>
            </a:endParaRPr>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ll/>
  </p:transition>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3645024"/>
            <a:ext cx="7772400" cy="1975104"/>
          </a:xfrm>
        </p:spPr>
        <p:txBody>
          <a:bodyPr/>
          <a:lstStyle/>
          <a:p>
            <a:r>
              <a:rPr lang="en-US" dirty="0"/>
              <a:t>Plant Leaf Disease Identification System On Android</a:t>
            </a:r>
          </a:p>
        </p:txBody>
      </p:sp>
      <p:sp>
        <p:nvSpPr>
          <p:cNvPr id="3" name="Subtitle 2"/>
          <p:cNvSpPr>
            <a:spLocks noGrp="1"/>
          </p:cNvSpPr>
          <p:nvPr>
            <p:ph type="subTitle" idx="1"/>
          </p:nvPr>
        </p:nvSpPr>
        <p:spPr>
          <a:xfrm>
            <a:off x="827584" y="1484784"/>
            <a:ext cx="7772400" cy="1634480"/>
          </a:xfrm>
        </p:spPr>
        <p:txBody>
          <a:bodyPr/>
          <a:lstStyle/>
          <a:p>
            <a:r>
              <a:rPr lang="en-US" b="1" u="sng" dirty="0" smtClean="0">
                <a:solidFill>
                  <a:srgbClr val="00B050"/>
                </a:solidFill>
                <a:latin typeface="Cambria" pitchFamily="18" charset="0"/>
                <a:ea typeface="Cambria" pitchFamily="18" charset="0"/>
              </a:rPr>
              <a:t>Name: </a:t>
            </a:r>
            <a:r>
              <a:rPr lang="en-US" b="1" u="sng" dirty="0" err="1" smtClean="0">
                <a:solidFill>
                  <a:srgbClr val="00B050"/>
                </a:solidFill>
                <a:latin typeface="Cambria" pitchFamily="18" charset="0"/>
                <a:ea typeface="Cambria" pitchFamily="18" charset="0"/>
              </a:rPr>
              <a:t>Asif</a:t>
            </a:r>
            <a:r>
              <a:rPr lang="en-US" b="1" u="sng" dirty="0" smtClean="0">
                <a:solidFill>
                  <a:srgbClr val="00B050"/>
                </a:solidFill>
                <a:latin typeface="Cambria" pitchFamily="18" charset="0"/>
                <a:ea typeface="Cambria" pitchFamily="18" charset="0"/>
              </a:rPr>
              <a:t> </a:t>
            </a:r>
            <a:r>
              <a:rPr lang="en-US" b="1" dirty="0" err="1" smtClean="0">
                <a:solidFill>
                  <a:srgbClr val="00B050"/>
                </a:solidFill>
                <a:latin typeface="Cambria" pitchFamily="18" charset="0"/>
                <a:ea typeface="Cambria" pitchFamily="18" charset="0"/>
              </a:rPr>
              <a:t>Karim</a:t>
            </a:r>
            <a:endParaRPr lang="en-US" b="1" dirty="0" smtClean="0">
              <a:solidFill>
                <a:srgbClr val="00B050"/>
              </a:solidFill>
              <a:latin typeface="Cambria" pitchFamily="18" charset="0"/>
              <a:ea typeface="Cambria" pitchFamily="18" charset="0"/>
            </a:endParaRPr>
          </a:p>
          <a:p>
            <a:r>
              <a:rPr lang="en-US" b="1" u="sng" dirty="0" smtClean="0">
                <a:solidFill>
                  <a:srgbClr val="00B050"/>
                </a:solidFill>
                <a:latin typeface="Cambria" pitchFamily="18" charset="0"/>
                <a:ea typeface="Cambria" pitchFamily="18" charset="0"/>
              </a:rPr>
              <a:t>Roll:210602</a:t>
            </a:r>
            <a:endParaRPr lang="en-US" b="1" u="sng" dirty="0">
              <a:solidFill>
                <a:srgbClr val="00B050"/>
              </a:solidFill>
              <a:latin typeface="Cambria" pitchFamily="18" charset="0"/>
              <a:ea typeface="Cambria" pitchFamily="18" charset="0"/>
            </a:endParaRPr>
          </a:p>
        </p:txBody>
      </p:sp>
    </p:spTree>
    <p:extLst>
      <p:ext uri="{BB962C8B-B14F-4D97-AF65-F5344CB8AC3E}">
        <p14:creationId xmlns:p14="http://schemas.microsoft.com/office/powerpoint/2010/main" val="1823400416"/>
      </p:ext>
    </p:extLst>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We build an android app that is capable of identifying plant leaf disease. We showed limitation of existing works and suggested a path following </a:t>
            </a:r>
            <a:r>
              <a:rPr lang="en-US" dirty="0" smtClean="0"/>
              <a:t>which state </a:t>
            </a:r>
            <a:r>
              <a:rPr lang="en-US" dirty="0" smtClean="0"/>
              <a:t>of the art system can be create to identify plant leaf disease.</a:t>
            </a:r>
            <a:endParaRPr lang="en-US" dirty="0"/>
          </a:p>
        </p:txBody>
      </p:sp>
    </p:spTree>
    <p:extLst>
      <p:ext uri="{BB962C8B-B14F-4D97-AF65-F5344CB8AC3E}">
        <p14:creationId xmlns:p14="http://schemas.microsoft.com/office/powerpoint/2010/main" val="3605740128"/>
      </p:ext>
    </p:extLst>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72646411"/>
              </p:ext>
            </p:extLst>
          </p:nvPr>
        </p:nvGraphicFramePr>
        <p:xfrm>
          <a:off x="899592" y="1484784"/>
          <a:ext cx="7762056" cy="5256584"/>
        </p:xfrm>
        <a:graphic>
          <a:graphicData uri="http://schemas.openxmlformats.org/drawingml/2006/table">
            <a:tbl>
              <a:tblPr firstRow="1" bandRow="1">
                <a:tableStyleId>{08FB837D-C827-4EFA-A057-4D05807E0F7C}</a:tableStyleId>
              </a:tblPr>
              <a:tblGrid>
                <a:gridCol w="849288"/>
                <a:gridCol w="3031740"/>
                <a:gridCol w="1792796"/>
                <a:gridCol w="2088232"/>
              </a:tblGrid>
              <a:tr h="608856">
                <a:tc>
                  <a:txBody>
                    <a:bodyPr/>
                    <a:lstStyle/>
                    <a:p>
                      <a:pPr algn="ctr"/>
                      <a:r>
                        <a:rPr lang="en-US" dirty="0" smtClean="0">
                          <a:latin typeface="Cambria" pitchFamily="18" charset="0"/>
                          <a:ea typeface="Cambria" pitchFamily="18" charset="0"/>
                        </a:rPr>
                        <a:t>Work</a:t>
                      </a:r>
                      <a:r>
                        <a:rPr lang="en-US" baseline="0" dirty="0" smtClean="0">
                          <a:latin typeface="Cambria" pitchFamily="18" charset="0"/>
                          <a:ea typeface="Cambria" pitchFamily="18" charset="0"/>
                        </a:rPr>
                        <a:t> No</a:t>
                      </a:r>
                      <a:endParaRPr lang="en-US" dirty="0">
                        <a:latin typeface="Cambria" pitchFamily="18" charset="0"/>
                        <a:ea typeface="Cambria" pitchFamily="18" charset="0"/>
                      </a:endParaRPr>
                    </a:p>
                  </a:txBody>
                  <a:tcPr/>
                </a:tc>
                <a:tc>
                  <a:txBody>
                    <a:bodyPr/>
                    <a:lstStyle/>
                    <a:p>
                      <a:pPr algn="ctr"/>
                      <a:r>
                        <a:rPr lang="en-US" dirty="0" smtClean="0">
                          <a:latin typeface="Cambria" pitchFamily="18" charset="0"/>
                          <a:ea typeface="Cambria" pitchFamily="18" charset="0"/>
                        </a:rPr>
                        <a:t>Method</a:t>
                      </a:r>
                      <a:endParaRPr lang="en-US" dirty="0">
                        <a:latin typeface="Cambria" pitchFamily="18" charset="0"/>
                        <a:ea typeface="Cambria" pitchFamily="18" charset="0"/>
                      </a:endParaRPr>
                    </a:p>
                  </a:txBody>
                  <a:tcPr/>
                </a:tc>
                <a:tc>
                  <a:txBody>
                    <a:bodyPr/>
                    <a:lstStyle/>
                    <a:p>
                      <a:pPr algn="ctr"/>
                      <a:r>
                        <a:rPr lang="en-US" dirty="0" smtClean="0">
                          <a:latin typeface="Cambria" pitchFamily="18" charset="0"/>
                          <a:ea typeface="Cambria" pitchFamily="18" charset="0"/>
                        </a:rPr>
                        <a:t>Pros</a:t>
                      </a:r>
                      <a:endParaRPr lang="en-US" dirty="0">
                        <a:latin typeface="Cambria" pitchFamily="18" charset="0"/>
                        <a:ea typeface="Cambria" pitchFamily="18" charset="0"/>
                      </a:endParaRPr>
                    </a:p>
                  </a:txBody>
                  <a:tcPr/>
                </a:tc>
                <a:tc>
                  <a:txBody>
                    <a:bodyPr/>
                    <a:lstStyle/>
                    <a:p>
                      <a:pPr algn="ctr"/>
                      <a:r>
                        <a:rPr lang="en-US" dirty="0" smtClean="0">
                          <a:latin typeface="Cambria" pitchFamily="18" charset="0"/>
                          <a:ea typeface="Cambria" pitchFamily="18" charset="0"/>
                        </a:rPr>
                        <a:t>Cons</a:t>
                      </a:r>
                      <a:endParaRPr lang="en-US" dirty="0">
                        <a:latin typeface="Cambria" pitchFamily="18" charset="0"/>
                        <a:ea typeface="Cambria" pitchFamily="18" charset="0"/>
                      </a:endParaRPr>
                    </a:p>
                  </a:txBody>
                  <a:tcPr/>
                </a:tc>
              </a:tr>
              <a:tr h="1130733">
                <a:tc>
                  <a:txBody>
                    <a:bodyPr/>
                    <a:lstStyle/>
                    <a:p>
                      <a:pPr algn="ctr"/>
                      <a:r>
                        <a:rPr lang="en-US" dirty="0" smtClean="0">
                          <a:solidFill>
                            <a:schemeClr val="bg1"/>
                          </a:solidFill>
                          <a:latin typeface="Cambria" pitchFamily="18" charset="0"/>
                          <a:ea typeface="Cambria" pitchFamily="18" charset="0"/>
                        </a:rPr>
                        <a:t>1</a:t>
                      </a:r>
                      <a:endParaRPr lang="en-US" dirty="0">
                        <a:solidFill>
                          <a:schemeClr val="bg1"/>
                        </a:solidFill>
                        <a:latin typeface="Cambria" pitchFamily="18" charset="0"/>
                        <a:ea typeface="Cambria" pitchFamily="18" charset="0"/>
                      </a:endParaRPr>
                    </a:p>
                  </a:txBody>
                  <a:tcPr>
                    <a:solidFill>
                      <a:srgbClr val="FF0000">
                        <a:alpha val="20000"/>
                      </a:srgbClr>
                    </a:solidFill>
                  </a:tcPr>
                </a:tc>
                <a:tc>
                  <a:txBody>
                    <a:bodyPr/>
                    <a:lstStyle/>
                    <a:p>
                      <a:r>
                        <a:rPr lang="en-US" sz="1700" dirty="0" smtClean="0">
                          <a:solidFill>
                            <a:schemeClr val="bg1"/>
                          </a:solidFill>
                          <a:latin typeface="Cambria" pitchFamily="18" charset="0"/>
                          <a:ea typeface="Cambria" pitchFamily="18" charset="0"/>
                        </a:rPr>
                        <a:t>Used</a:t>
                      </a:r>
                      <a:r>
                        <a:rPr lang="en-US" sz="1700" baseline="0" dirty="0" smtClean="0">
                          <a:solidFill>
                            <a:schemeClr val="bg1"/>
                          </a:solidFill>
                          <a:latin typeface="Cambria" pitchFamily="18" charset="0"/>
                          <a:ea typeface="Cambria" pitchFamily="18" charset="0"/>
                        </a:rPr>
                        <a:t> CNN and Plant Village data</a:t>
                      </a:r>
                      <a:endParaRPr lang="en-US" sz="1700" dirty="0">
                        <a:solidFill>
                          <a:schemeClr val="bg1"/>
                        </a:solidFill>
                        <a:latin typeface="Cambria" pitchFamily="18" charset="0"/>
                        <a:ea typeface="Cambria" pitchFamily="18" charset="0"/>
                      </a:endParaRPr>
                    </a:p>
                  </a:txBody>
                  <a:tcPr>
                    <a:solidFill>
                      <a:srgbClr val="FF0000">
                        <a:alpha val="20000"/>
                      </a:srgbClr>
                    </a:solidFill>
                  </a:tcPr>
                </a:tc>
                <a:tc>
                  <a:txBody>
                    <a:bodyPr/>
                    <a:lstStyle/>
                    <a:p>
                      <a:r>
                        <a:rPr lang="en-US" sz="1700" dirty="0" smtClean="0">
                          <a:solidFill>
                            <a:schemeClr val="bg1"/>
                          </a:solidFill>
                          <a:latin typeface="Cambria" pitchFamily="18" charset="0"/>
                          <a:ea typeface="Cambria" pitchFamily="18" charset="0"/>
                        </a:rPr>
                        <a:t>Achieved</a:t>
                      </a:r>
                      <a:r>
                        <a:rPr lang="en-US" sz="1700" baseline="0" dirty="0" smtClean="0">
                          <a:solidFill>
                            <a:schemeClr val="bg1"/>
                          </a:solidFill>
                          <a:latin typeface="Cambria" pitchFamily="18" charset="0"/>
                          <a:ea typeface="Cambria" pitchFamily="18" charset="0"/>
                        </a:rPr>
                        <a:t> 99% accuracy in training and 85.31% in test</a:t>
                      </a:r>
                      <a:endParaRPr lang="en-US" sz="1700" dirty="0">
                        <a:solidFill>
                          <a:schemeClr val="bg1"/>
                        </a:solidFill>
                        <a:latin typeface="Cambria" pitchFamily="18" charset="0"/>
                        <a:ea typeface="Cambria" pitchFamily="18" charset="0"/>
                      </a:endParaRPr>
                    </a:p>
                  </a:txBody>
                  <a:tcPr>
                    <a:solidFill>
                      <a:srgbClr val="FF0000">
                        <a:alpha val="20000"/>
                      </a:srgbClr>
                    </a:solidFill>
                  </a:tcPr>
                </a:tc>
                <a:tc>
                  <a:txBody>
                    <a:bodyPr/>
                    <a:lstStyle/>
                    <a:p>
                      <a:r>
                        <a:rPr lang="en-US" sz="1700" dirty="0" smtClean="0">
                          <a:solidFill>
                            <a:schemeClr val="bg1"/>
                          </a:solidFill>
                          <a:latin typeface="Cambria" pitchFamily="18" charset="0"/>
                          <a:ea typeface="Cambria" pitchFamily="18" charset="0"/>
                        </a:rPr>
                        <a:t>The model suffer from </a:t>
                      </a:r>
                      <a:r>
                        <a:rPr lang="en-US" sz="1700" dirty="0" err="1" smtClean="0">
                          <a:solidFill>
                            <a:schemeClr val="bg1"/>
                          </a:solidFill>
                          <a:latin typeface="Cambria" pitchFamily="18" charset="0"/>
                          <a:ea typeface="Cambria" pitchFamily="18" charset="0"/>
                        </a:rPr>
                        <a:t>overfitting</a:t>
                      </a:r>
                      <a:r>
                        <a:rPr lang="en-US" sz="1700" dirty="0" smtClean="0">
                          <a:solidFill>
                            <a:schemeClr val="bg1"/>
                          </a:solidFill>
                          <a:latin typeface="Cambria" pitchFamily="18" charset="0"/>
                          <a:ea typeface="Cambria" pitchFamily="18" charset="0"/>
                        </a:rPr>
                        <a:t> for using Plant Village dataset.</a:t>
                      </a:r>
                      <a:endParaRPr lang="en-US" sz="1700" dirty="0">
                        <a:solidFill>
                          <a:schemeClr val="bg1"/>
                        </a:solidFill>
                        <a:latin typeface="Cambria" pitchFamily="18" charset="0"/>
                        <a:ea typeface="Cambria" pitchFamily="18" charset="0"/>
                      </a:endParaRPr>
                    </a:p>
                  </a:txBody>
                  <a:tcPr>
                    <a:solidFill>
                      <a:srgbClr val="FF0000">
                        <a:alpha val="20000"/>
                      </a:srgbClr>
                    </a:solidFill>
                  </a:tcPr>
                </a:tc>
              </a:tr>
              <a:tr h="3485771">
                <a:tc>
                  <a:txBody>
                    <a:bodyPr/>
                    <a:lstStyle/>
                    <a:p>
                      <a:pPr algn="ctr"/>
                      <a:r>
                        <a:rPr lang="en-US" dirty="0" smtClean="0">
                          <a:solidFill>
                            <a:schemeClr val="bg1"/>
                          </a:solidFill>
                          <a:latin typeface="Cambria" pitchFamily="18" charset="0"/>
                          <a:ea typeface="Cambria" pitchFamily="18" charset="0"/>
                        </a:rPr>
                        <a:t>2</a:t>
                      </a:r>
                      <a:endParaRPr lang="en-US" dirty="0">
                        <a:solidFill>
                          <a:schemeClr val="bg1"/>
                        </a:solidFill>
                        <a:latin typeface="Cambria" pitchFamily="18" charset="0"/>
                        <a:ea typeface="Cambria" pitchFamily="18" charset="0"/>
                      </a:endParaRPr>
                    </a:p>
                  </a:txBody>
                  <a:tcPr>
                    <a:solidFill>
                      <a:srgbClr val="FF0000">
                        <a:alpha val="20000"/>
                      </a:srgbClr>
                    </a:solidFill>
                  </a:tcPr>
                </a:tc>
                <a:tc>
                  <a:txBody>
                    <a:bodyPr/>
                    <a:lstStyle/>
                    <a:p>
                      <a:r>
                        <a:rPr lang="en-US" sz="1700" dirty="0" smtClean="0">
                          <a:solidFill>
                            <a:schemeClr val="bg1"/>
                          </a:solidFill>
                          <a:latin typeface="Cambria" pitchFamily="18" charset="0"/>
                          <a:ea typeface="Cambria" pitchFamily="18" charset="0"/>
                        </a:rPr>
                        <a:t>Used CNN</a:t>
                      </a:r>
                      <a:r>
                        <a:rPr lang="en-US" sz="1700" baseline="0" dirty="0" smtClean="0">
                          <a:solidFill>
                            <a:schemeClr val="bg1"/>
                          </a:solidFill>
                          <a:latin typeface="Cambria" pitchFamily="18" charset="0"/>
                          <a:ea typeface="Cambria" pitchFamily="18" charset="0"/>
                        </a:rPr>
                        <a:t> to identify tomato leaf disease. It combined data of Plant Village dataset with data collected from field of Mexico. The number of sample from </a:t>
                      </a:r>
                      <a:r>
                        <a:rPr lang="en-US" sz="1700" baseline="0" dirty="0" err="1" smtClean="0">
                          <a:solidFill>
                            <a:schemeClr val="bg1"/>
                          </a:solidFill>
                          <a:latin typeface="Cambria" pitchFamily="18" charset="0"/>
                          <a:ea typeface="Cambria" pitchFamily="18" charset="0"/>
                        </a:rPr>
                        <a:t>PlantVillage</a:t>
                      </a:r>
                      <a:r>
                        <a:rPr lang="en-US" sz="1700" baseline="0" dirty="0" smtClean="0">
                          <a:solidFill>
                            <a:schemeClr val="bg1"/>
                          </a:solidFill>
                          <a:latin typeface="Cambria" pitchFamily="18" charset="0"/>
                          <a:ea typeface="Cambria" pitchFamily="18" charset="0"/>
                        </a:rPr>
                        <a:t> is  11000 and  number of sample collected from field of Mexico is 2500.They tried to balance the dataset using </a:t>
                      </a:r>
                      <a:r>
                        <a:rPr lang="en-US" sz="1700" baseline="0" dirty="0" err="1" smtClean="0">
                          <a:solidFill>
                            <a:schemeClr val="bg1"/>
                          </a:solidFill>
                          <a:latin typeface="Cambria" pitchFamily="18" charset="0"/>
                          <a:ea typeface="Cambria" pitchFamily="18" charset="0"/>
                        </a:rPr>
                        <a:t>smaple</a:t>
                      </a:r>
                      <a:r>
                        <a:rPr lang="en-US" sz="1700" baseline="0" dirty="0" smtClean="0">
                          <a:solidFill>
                            <a:schemeClr val="bg1"/>
                          </a:solidFill>
                          <a:latin typeface="Cambria" pitchFamily="18" charset="0"/>
                          <a:ea typeface="Cambria" pitchFamily="18" charset="0"/>
                        </a:rPr>
                        <a:t> generated by GAN</a:t>
                      </a:r>
                      <a:endParaRPr lang="en-US" sz="1700" dirty="0">
                        <a:solidFill>
                          <a:schemeClr val="bg1"/>
                        </a:solidFill>
                        <a:latin typeface="Cambria" pitchFamily="18" charset="0"/>
                        <a:ea typeface="Cambria" pitchFamily="18" charset="0"/>
                      </a:endParaRPr>
                    </a:p>
                  </a:txBody>
                  <a:tcPr>
                    <a:solidFill>
                      <a:srgbClr val="FF0000">
                        <a:alpha val="20000"/>
                      </a:srgbClr>
                    </a:solidFill>
                  </a:tcPr>
                </a:tc>
                <a:tc>
                  <a:txBody>
                    <a:bodyPr/>
                    <a:lstStyle/>
                    <a:p>
                      <a:r>
                        <a:rPr lang="en-US" sz="1700" dirty="0" smtClean="0">
                          <a:solidFill>
                            <a:schemeClr val="bg1"/>
                          </a:solidFill>
                          <a:latin typeface="Cambria" pitchFamily="18" charset="0"/>
                          <a:ea typeface="Cambria" pitchFamily="18" charset="0"/>
                        </a:rPr>
                        <a:t>Achieved</a:t>
                      </a:r>
                      <a:r>
                        <a:rPr lang="en-US" sz="1700" baseline="0" dirty="0" smtClean="0">
                          <a:solidFill>
                            <a:schemeClr val="bg1"/>
                          </a:solidFill>
                          <a:latin typeface="Cambria" pitchFamily="18" charset="0"/>
                          <a:ea typeface="Cambria" pitchFamily="18" charset="0"/>
                        </a:rPr>
                        <a:t> 99.9% accuracy. It also have achieved better F1-score and recall.</a:t>
                      </a:r>
                      <a:endParaRPr lang="en-US" sz="1700" dirty="0">
                        <a:solidFill>
                          <a:schemeClr val="bg1"/>
                        </a:solidFill>
                        <a:latin typeface="Cambria" pitchFamily="18" charset="0"/>
                        <a:ea typeface="Cambria" pitchFamily="18" charset="0"/>
                      </a:endParaRPr>
                    </a:p>
                  </a:txBody>
                  <a:tcPr>
                    <a:solidFill>
                      <a:srgbClr val="FF0000">
                        <a:alpha val="20000"/>
                      </a:srgbClr>
                    </a:solidFill>
                  </a:tcPr>
                </a:tc>
                <a:tc>
                  <a:txBody>
                    <a:bodyPr/>
                    <a:lstStyle/>
                    <a:p>
                      <a:r>
                        <a:rPr lang="en-US" sz="1700" dirty="0" smtClean="0">
                          <a:solidFill>
                            <a:schemeClr val="bg1"/>
                          </a:solidFill>
                          <a:latin typeface="Cambria" pitchFamily="18" charset="0"/>
                          <a:ea typeface="Cambria" pitchFamily="18" charset="0"/>
                        </a:rPr>
                        <a:t>80%</a:t>
                      </a:r>
                      <a:r>
                        <a:rPr lang="en-US" sz="1700" baseline="0" dirty="0" smtClean="0">
                          <a:solidFill>
                            <a:schemeClr val="bg1"/>
                          </a:solidFill>
                          <a:latin typeface="Cambria" pitchFamily="18" charset="0"/>
                          <a:ea typeface="Cambria" pitchFamily="18" charset="0"/>
                        </a:rPr>
                        <a:t> of data used to train the model is from </a:t>
                      </a:r>
                      <a:r>
                        <a:rPr lang="en-US" sz="1700" baseline="0" dirty="0" err="1" smtClean="0">
                          <a:solidFill>
                            <a:schemeClr val="bg1"/>
                          </a:solidFill>
                          <a:latin typeface="Cambria" pitchFamily="18" charset="0"/>
                          <a:ea typeface="Cambria" pitchFamily="18" charset="0"/>
                        </a:rPr>
                        <a:t>PlantVillage</a:t>
                      </a:r>
                      <a:r>
                        <a:rPr lang="en-US" sz="1700" baseline="0" dirty="0" smtClean="0">
                          <a:solidFill>
                            <a:schemeClr val="bg1"/>
                          </a:solidFill>
                          <a:latin typeface="Cambria" pitchFamily="18" charset="0"/>
                          <a:ea typeface="Cambria" pitchFamily="18" charset="0"/>
                        </a:rPr>
                        <a:t> dataset. They used GAN to make the dataset balanced and reduce element </a:t>
                      </a:r>
                      <a:r>
                        <a:rPr lang="en-US" sz="1700" baseline="0" dirty="0" err="1" smtClean="0">
                          <a:solidFill>
                            <a:schemeClr val="bg1"/>
                          </a:solidFill>
                          <a:latin typeface="Cambria" pitchFamily="18" charset="0"/>
                          <a:ea typeface="Cambria" pitchFamily="18" charset="0"/>
                        </a:rPr>
                        <a:t>overfittng</a:t>
                      </a:r>
                      <a:r>
                        <a:rPr lang="en-US" sz="1700" baseline="0" dirty="0" smtClean="0">
                          <a:solidFill>
                            <a:schemeClr val="bg1"/>
                          </a:solidFill>
                          <a:latin typeface="Cambria" pitchFamily="18" charset="0"/>
                          <a:ea typeface="Cambria" pitchFamily="18" charset="0"/>
                        </a:rPr>
                        <a:t>. But the model still suffers from </a:t>
                      </a:r>
                      <a:r>
                        <a:rPr lang="en-US" sz="1700" baseline="0" dirty="0" err="1" smtClean="0">
                          <a:solidFill>
                            <a:schemeClr val="bg1"/>
                          </a:solidFill>
                          <a:latin typeface="Cambria" pitchFamily="18" charset="0"/>
                          <a:ea typeface="Cambria" pitchFamily="18" charset="0"/>
                        </a:rPr>
                        <a:t>overfitting</a:t>
                      </a:r>
                      <a:r>
                        <a:rPr lang="en-US" sz="1700" baseline="0" dirty="0" smtClean="0">
                          <a:solidFill>
                            <a:schemeClr val="bg1"/>
                          </a:solidFill>
                          <a:latin typeface="Cambria" pitchFamily="18" charset="0"/>
                          <a:ea typeface="Cambria" pitchFamily="18" charset="0"/>
                        </a:rPr>
                        <a:t> because of the lack of variability of  in sample</a:t>
                      </a:r>
                      <a:endParaRPr lang="en-US" sz="1700" dirty="0">
                        <a:solidFill>
                          <a:schemeClr val="bg1"/>
                        </a:solidFill>
                        <a:latin typeface="Cambria" pitchFamily="18" charset="0"/>
                        <a:ea typeface="Cambria" pitchFamily="18" charset="0"/>
                      </a:endParaRPr>
                    </a:p>
                  </a:txBody>
                  <a:tcPr>
                    <a:solidFill>
                      <a:srgbClr val="FF0000">
                        <a:alpha val="20000"/>
                      </a:srgbClr>
                    </a:solidFill>
                  </a:tcPr>
                </a:tc>
              </a:tr>
            </a:tbl>
          </a:graphicData>
        </a:graphic>
      </p:graphicFrame>
    </p:spTree>
    <p:extLst>
      <p:ext uri="{BB962C8B-B14F-4D97-AF65-F5344CB8AC3E}">
        <p14:creationId xmlns:p14="http://schemas.microsoft.com/office/powerpoint/2010/main" val="2569155970"/>
      </p:ext>
    </p:extLst>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43688459"/>
              </p:ext>
            </p:extLst>
          </p:nvPr>
        </p:nvGraphicFramePr>
        <p:xfrm>
          <a:off x="914400" y="1784350"/>
          <a:ext cx="7772400" cy="4617720"/>
        </p:xfrm>
        <a:graphic>
          <a:graphicData uri="http://schemas.openxmlformats.org/drawingml/2006/table">
            <a:tbl>
              <a:tblPr firstRow="1" bandRow="1">
                <a:tableStyleId>{08FB837D-C827-4EFA-A057-4D05807E0F7C}</a:tableStyleId>
              </a:tblPr>
              <a:tblGrid>
                <a:gridCol w="849288"/>
                <a:gridCol w="3384376"/>
                <a:gridCol w="1595636"/>
                <a:gridCol w="1943100"/>
              </a:tblGrid>
              <a:tr h="370840">
                <a:tc>
                  <a:txBody>
                    <a:bodyPr/>
                    <a:lstStyle/>
                    <a:p>
                      <a:pPr algn="ctr"/>
                      <a:r>
                        <a:rPr lang="en-US" dirty="0" smtClean="0"/>
                        <a:t>Work</a:t>
                      </a:r>
                      <a:r>
                        <a:rPr lang="en-US" baseline="0" dirty="0" smtClean="0"/>
                        <a:t> No</a:t>
                      </a:r>
                      <a:endParaRPr lang="en-US" dirty="0"/>
                    </a:p>
                  </a:txBody>
                  <a:tcPr/>
                </a:tc>
                <a:tc>
                  <a:txBody>
                    <a:bodyPr/>
                    <a:lstStyle/>
                    <a:p>
                      <a:pPr algn="ctr"/>
                      <a:r>
                        <a:rPr lang="en-US" dirty="0" smtClean="0"/>
                        <a:t>Method</a:t>
                      </a:r>
                      <a:endParaRPr lang="en-US" dirty="0"/>
                    </a:p>
                  </a:txBody>
                  <a:tcPr/>
                </a:tc>
                <a:tc>
                  <a:txBody>
                    <a:bodyPr/>
                    <a:lstStyle/>
                    <a:p>
                      <a:pPr algn="ctr"/>
                      <a:r>
                        <a:rPr lang="en-US" dirty="0" smtClean="0"/>
                        <a:t>Pros</a:t>
                      </a:r>
                      <a:endParaRPr lang="en-US" dirty="0"/>
                    </a:p>
                  </a:txBody>
                  <a:tcPr/>
                </a:tc>
                <a:tc>
                  <a:txBody>
                    <a:bodyPr/>
                    <a:lstStyle/>
                    <a:p>
                      <a:pPr algn="ctr"/>
                      <a:r>
                        <a:rPr lang="en-US" dirty="0" smtClean="0"/>
                        <a:t>Cons</a:t>
                      </a:r>
                      <a:endParaRPr lang="en-US" dirty="0"/>
                    </a:p>
                  </a:txBody>
                  <a:tcPr/>
                </a:tc>
              </a:tr>
              <a:tr h="370840">
                <a:tc>
                  <a:txBody>
                    <a:bodyPr/>
                    <a:lstStyle/>
                    <a:p>
                      <a:pPr algn="ctr"/>
                      <a:r>
                        <a:rPr lang="en-US" sz="1700" dirty="0" smtClean="0">
                          <a:latin typeface="Cambria" pitchFamily="18" charset="0"/>
                          <a:ea typeface="Cambria" pitchFamily="18" charset="0"/>
                        </a:rPr>
                        <a:t>3</a:t>
                      </a:r>
                      <a:endParaRPr lang="en-US" sz="1700"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latin typeface="Cambria" pitchFamily="18" charset="0"/>
                          <a:ea typeface="Cambria" pitchFamily="18" charset="0"/>
                        </a:rPr>
                        <a:t>Used</a:t>
                      </a:r>
                      <a:r>
                        <a:rPr lang="en-US" sz="1700" baseline="0" dirty="0" smtClean="0">
                          <a:latin typeface="Cambria" pitchFamily="18" charset="0"/>
                          <a:ea typeface="Cambria" pitchFamily="18" charset="0"/>
                        </a:rPr>
                        <a:t> different version of YoloV-8  to predict  Corn leaf disease and achieved best accuracy using YoloV8n. It collected image  from </a:t>
                      </a:r>
                      <a:r>
                        <a:rPr kumimoji="0" lang="en-US" sz="1700" b="0" i="0" kern="1200" dirty="0" smtClean="0">
                          <a:solidFill>
                            <a:schemeClr val="dk1"/>
                          </a:solidFill>
                          <a:effectLst/>
                          <a:latin typeface="Cambria" pitchFamily="18" charset="0"/>
                          <a:ea typeface="Cambria" pitchFamily="18" charset="0"/>
                          <a:cs typeface="+mn-cs"/>
                        </a:rPr>
                        <a:t>University Research Farm </a:t>
                      </a:r>
                      <a:r>
                        <a:rPr kumimoji="0" lang="en-US" sz="1700" b="0" i="0" kern="1200" dirty="0" err="1" smtClean="0">
                          <a:solidFill>
                            <a:schemeClr val="dk1"/>
                          </a:solidFill>
                          <a:effectLst/>
                          <a:latin typeface="Cambria" pitchFamily="18" charset="0"/>
                          <a:ea typeface="Cambria" pitchFamily="18" charset="0"/>
                          <a:cs typeface="+mn-cs"/>
                        </a:rPr>
                        <a:t>Koont</a:t>
                      </a:r>
                      <a:r>
                        <a:rPr kumimoji="0" lang="en-US" sz="1700" b="0" i="0" kern="1200" dirty="0" smtClean="0">
                          <a:solidFill>
                            <a:schemeClr val="dk1"/>
                          </a:solidFill>
                          <a:effectLst/>
                          <a:latin typeface="Cambria" pitchFamily="18" charset="0"/>
                          <a:ea typeface="Cambria" pitchFamily="18" charset="0"/>
                          <a:cs typeface="+mn-cs"/>
                        </a:rPr>
                        <a:t> (URF), </a:t>
                      </a:r>
                      <a:r>
                        <a:rPr kumimoji="0" lang="en-US" sz="1700" b="0" i="0" kern="1200" dirty="0" err="1" smtClean="0">
                          <a:solidFill>
                            <a:schemeClr val="dk1"/>
                          </a:solidFill>
                          <a:effectLst/>
                          <a:latin typeface="Cambria" pitchFamily="18" charset="0"/>
                          <a:ea typeface="Cambria" pitchFamily="18" charset="0"/>
                          <a:cs typeface="+mn-cs"/>
                        </a:rPr>
                        <a:t>Pir</a:t>
                      </a:r>
                      <a:r>
                        <a:rPr kumimoji="0" lang="en-US" sz="1700" b="0" i="0" kern="1200" dirty="0" smtClean="0">
                          <a:solidFill>
                            <a:schemeClr val="dk1"/>
                          </a:solidFill>
                          <a:effectLst/>
                          <a:latin typeface="Cambria" pitchFamily="18" charset="0"/>
                          <a:ea typeface="Cambria" pitchFamily="18" charset="0"/>
                          <a:cs typeface="+mn-cs"/>
                        </a:rPr>
                        <a:t> </a:t>
                      </a:r>
                      <a:r>
                        <a:rPr kumimoji="0" lang="en-US" sz="1700" b="0" i="0" kern="1200" dirty="0" err="1" smtClean="0">
                          <a:solidFill>
                            <a:schemeClr val="dk1"/>
                          </a:solidFill>
                          <a:effectLst/>
                          <a:latin typeface="Cambria" pitchFamily="18" charset="0"/>
                          <a:ea typeface="Cambria" pitchFamily="18" charset="0"/>
                          <a:cs typeface="+mn-cs"/>
                        </a:rPr>
                        <a:t>Mehr</a:t>
                      </a:r>
                      <a:r>
                        <a:rPr kumimoji="0" lang="en-US" sz="1700" b="0" i="0" kern="1200" dirty="0" smtClean="0">
                          <a:solidFill>
                            <a:schemeClr val="dk1"/>
                          </a:solidFill>
                          <a:effectLst/>
                          <a:latin typeface="Cambria" pitchFamily="18" charset="0"/>
                          <a:ea typeface="Cambria" pitchFamily="18" charset="0"/>
                          <a:cs typeface="+mn-cs"/>
                        </a:rPr>
                        <a:t> Ali Shah Arid Agriculture University Rawalpindi (PMAS-AAUR), at different growth stages (initial, middle, and mature). The image is captured with dynamic background .They</a:t>
                      </a:r>
                      <a:r>
                        <a:rPr kumimoji="0" lang="en-US" sz="1700" b="0" i="0" kern="1200" baseline="0" dirty="0" smtClean="0">
                          <a:solidFill>
                            <a:schemeClr val="dk1"/>
                          </a:solidFill>
                          <a:effectLst/>
                          <a:latin typeface="Cambria" pitchFamily="18" charset="0"/>
                          <a:ea typeface="Cambria" pitchFamily="18" charset="0"/>
                          <a:cs typeface="+mn-cs"/>
                        </a:rPr>
                        <a:t> used 2675 image sample in total for 3 different class. 892 sample per class on average.</a:t>
                      </a:r>
                      <a:endParaRPr lang="en-US" sz="1700" baseline="0" dirty="0" smtClean="0">
                        <a:latin typeface="Cambria" pitchFamily="18" charset="0"/>
                        <a:ea typeface="Cambria" pitchFamily="18" charset="0"/>
                      </a:endParaRPr>
                    </a:p>
                    <a:p>
                      <a:endParaRPr lang="en-US" sz="1700"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latin typeface="Cambria" pitchFamily="18" charset="0"/>
                          <a:ea typeface="Cambria" pitchFamily="18" charset="0"/>
                        </a:rPr>
                        <a:t>It used</a:t>
                      </a:r>
                      <a:r>
                        <a:rPr lang="en-US" sz="1700" baseline="0" dirty="0" smtClean="0">
                          <a:latin typeface="Cambria" pitchFamily="18" charset="0"/>
                          <a:ea typeface="Cambria" pitchFamily="18" charset="0"/>
                        </a:rPr>
                        <a:t> good quality of dataset which implies that the system can be practically  integrated for real world task. It achieved 99 accuracy using YoloV8n.</a:t>
                      </a:r>
                      <a:endParaRPr lang="en-US" sz="1700" dirty="0" smtClean="0">
                        <a:latin typeface="Cambria" pitchFamily="18" charset="0"/>
                        <a:ea typeface="Cambria" pitchFamily="18" charset="0"/>
                      </a:endParaRPr>
                    </a:p>
                    <a:p>
                      <a:endParaRPr lang="en-US" sz="1700"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latin typeface="Cambria" pitchFamily="18" charset="0"/>
                          <a:ea typeface="Cambria" pitchFamily="18" charset="0"/>
                        </a:rPr>
                        <a:t>The study</a:t>
                      </a:r>
                      <a:r>
                        <a:rPr lang="en-US" sz="1700" baseline="0" dirty="0" smtClean="0">
                          <a:latin typeface="Cambria" pitchFamily="18" charset="0"/>
                          <a:ea typeface="Cambria" pitchFamily="18" charset="0"/>
                        </a:rPr>
                        <a:t> developed model only to identify 3 different disease of  Corn(blight, </a:t>
                      </a:r>
                      <a:r>
                        <a:rPr lang="en-US" sz="1700" baseline="0" dirty="0" err="1" smtClean="0">
                          <a:latin typeface="Cambria" pitchFamily="18" charset="0"/>
                          <a:ea typeface="Cambria" pitchFamily="18" charset="0"/>
                        </a:rPr>
                        <a:t>mosice</a:t>
                      </a:r>
                      <a:r>
                        <a:rPr lang="en-US" sz="1700" baseline="0" dirty="0" smtClean="0">
                          <a:latin typeface="Cambria" pitchFamily="18" charset="0"/>
                          <a:ea typeface="Cambria" pitchFamily="18" charset="0"/>
                        </a:rPr>
                        <a:t>, spot). </a:t>
                      </a:r>
                    </a:p>
                    <a:p>
                      <a:endParaRPr lang="en-US" sz="1700" dirty="0">
                        <a:latin typeface="Cambria" pitchFamily="18" charset="0"/>
                        <a:ea typeface="Cambria" pitchFamily="18" charset="0"/>
                      </a:endParaRPr>
                    </a:p>
                  </a:txBody>
                  <a:tcPr/>
                </a:tc>
              </a:tr>
            </a:tbl>
          </a:graphicData>
        </a:graphic>
      </p:graphicFrame>
    </p:spTree>
    <p:extLst>
      <p:ext uri="{BB962C8B-B14F-4D97-AF65-F5344CB8AC3E}">
        <p14:creationId xmlns:p14="http://schemas.microsoft.com/office/powerpoint/2010/main" val="1824686006"/>
      </p:ext>
    </p:extLst>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06615181"/>
              </p:ext>
            </p:extLst>
          </p:nvPr>
        </p:nvGraphicFramePr>
        <p:xfrm>
          <a:off x="914400" y="1784350"/>
          <a:ext cx="7772400" cy="4885010"/>
        </p:xfrm>
        <a:graphic>
          <a:graphicData uri="http://schemas.openxmlformats.org/drawingml/2006/table">
            <a:tbl>
              <a:tblPr firstRow="1" bandRow="1">
                <a:tableStyleId>{08FB837D-C827-4EFA-A057-4D05807E0F7C}</a:tableStyleId>
              </a:tblPr>
              <a:tblGrid>
                <a:gridCol w="1137320"/>
                <a:gridCol w="2592288"/>
                <a:gridCol w="2664296"/>
                <a:gridCol w="1378496"/>
              </a:tblGrid>
              <a:tr h="370840">
                <a:tc>
                  <a:txBody>
                    <a:bodyPr/>
                    <a:lstStyle/>
                    <a:p>
                      <a:pPr algn="ctr"/>
                      <a:r>
                        <a:rPr lang="en-US" dirty="0" smtClean="0"/>
                        <a:t>Work No</a:t>
                      </a:r>
                      <a:endParaRPr lang="en-US" dirty="0"/>
                    </a:p>
                  </a:txBody>
                  <a:tcPr/>
                </a:tc>
                <a:tc>
                  <a:txBody>
                    <a:bodyPr/>
                    <a:lstStyle/>
                    <a:p>
                      <a:pPr algn="ctr"/>
                      <a:r>
                        <a:rPr lang="en-US" dirty="0" smtClean="0"/>
                        <a:t>Method</a:t>
                      </a:r>
                      <a:endParaRPr lang="en-US" dirty="0"/>
                    </a:p>
                  </a:txBody>
                  <a:tcPr/>
                </a:tc>
                <a:tc>
                  <a:txBody>
                    <a:bodyPr/>
                    <a:lstStyle/>
                    <a:p>
                      <a:pPr algn="ctr"/>
                      <a:r>
                        <a:rPr lang="en-US" dirty="0" smtClean="0"/>
                        <a:t>Pros</a:t>
                      </a:r>
                      <a:endParaRPr lang="en-US" dirty="0"/>
                    </a:p>
                  </a:txBody>
                  <a:tcPr/>
                </a:tc>
                <a:tc>
                  <a:txBody>
                    <a:bodyPr/>
                    <a:lstStyle/>
                    <a:p>
                      <a:pPr algn="ctr"/>
                      <a:r>
                        <a:rPr lang="en-US" dirty="0" smtClean="0"/>
                        <a:t>Cons</a:t>
                      </a:r>
                      <a:endParaRPr lang="en-US" dirty="0"/>
                    </a:p>
                  </a:txBody>
                  <a:tcPr/>
                </a:tc>
              </a:tr>
              <a:tr h="4514170">
                <a:tc>
                  <a:txBody>
                    <a:bodyPr/>
                    <a:lstStyle/>
                    <a:p>
                      <a:pPr algn="ctr"/>
                      <a:r>
                        <a:rPr lang="en-US" dirty="0" smtClean="0"/>
                        <a:t>4</a:t>
                      </a:r>
                      <a:endParaRPr lang="en-US" dirty="0"/>
                    </a:p>
                  </a:txBody>
                  <a:tcPr/>
                </a:tc>
                <a:tc>
                  <a:txBody>
                    <a:bodyPr/>
                    <a:lstStyle/>
                    <a:p>
                      <a:r>
                        <a:rPr lang="en-US" dirty="0" smtClean="0"/>
                        <a:t>The</a:t>
                      </a:r>
                      <a:r>
                        <a:rPr lang="en-US" baseline="0" dirty="0" smtClean="0"/>
                        <a:t> study used CNN, Inception, YOLOv5 to predict 5 different disease class of Soybean plant. </a:t>
                      </a:r>
                      <a:r>
                        <a:rPr lang="en-US" baseline="0" dirty="0" smtClean="0"/>
                        <a:t>They </a:t>
                      </a:r>
                      <a:r>
                        <a:rPr lang="en-US" baseline="0" dirty="0" smtClean="0"/>
                        <a:t>collected image from </a:t>
                      </a:r>
                      <a:r>
                        <a:rPr kumimoji="0" lang="en-US" b="0" i="0" kern="1200" dirty="0" smtClean="0">
                          <a:solidFill>
                            <a:schemeClr val="dk1"/>
                          </a:solidFill>
                          <a:effectLst/>
                          <a:latin typeface="+mn-lt"/>
                          <a:ea typeface="+mn-ea"/>
                          <a:cs typeface="+mn-cs"/>
                        </a:rPr>
                        <a:t> Indira Gandhi </a:t>
                      </a:r>
                      <a:r>
                        <a:rPr kumimoji="0" lang="en-US" b="0" i="0" kern="1200" dirty="0" err="1" smtClean="0">
                          <a:solidFill>
                            <a:schemeClr val="dk1"/>
                          </a:solidFill>
                          <a:effectLst/>
                          <a:latin typeface="+mn-lt"/>
                          <a:ea typeface="+mn-ea"/>
                          <a:cs typeface="+mn-cs"/>
                        </a:rPr>
                        <a:t>Krishi</a:t>
                      </a:r>
                      <a:r>
                        <a:rPr kumimoji="0" lang="en-US" b="0" i="0" kern="1200" dirty="0" smtClean="0">
                          <a:solidFill>
                            <a:schemeClr val="dk1"/>
                          </a:solidFill>
                          <a:effectLst/>
                          <a:latin typeface="+mn-lt"/>
                          <a:ea typeface="+mn-ea"/>
                          <a:cs typeface="+mn-cs"/>
                        </a:rPr>
                        <a:t> </a:t>
                      </a:r>
                      <a:r>
                        <a:rPr kumimoji="0" lang="en-US" b="0" i="0" kern="1200" dirty="0" err="1" smtClean="0">
                          <a:solidFill>
                            <a:schemeClr val="dk1"/>
                          </a:solidFill>
                          <a:effectLst/>
                          <a:latin typeface="+mn-lt"/>
                          <a:ea typeface="+mn-ea"/>
                          <a:cs typeface="+mn-cs"/>
                        </a:rPr>
                        <a:t>Vishwavidyalaya</a:t>
                      </a:r>
                      <a:r>
                        <a:rPr kumimoji="0" lang="en-US" b="0" i="0" kern="1200" dirty="0" smtClean="0">
                          <a:solidFill>
                            <a:schemeClr val="dk1"/>
                          </a:solidFill>
                          <a:effectLst/>
                          <a:latin typeface="+mn-lt"/>
                          <a:ea typeface="+mn-ea"/>
                          <a:cs typeface="+mn-cs"/>
                        </a:rPr>
                        <a:t>, Raipur.</a:t>
                      </a:r>
                      <a:r>
                        <a:rPr kumimoji="0" lang="en-US" b="0" i="0" kern="1200" baseline="0" dirty="0" smtClean="0">
                          <a:solidFill>
                            <a:schemeClr val="dk1"/>
                          </a:solidFill>
                          <a:effectLst/>
                          <a:latin typeface="+mn-lt"/>
                          <a:ea typeface="+mn-ea"/>
                          <a:cs typeface="+mn-cs"/>
                        </a:rPr>
                        <a:t> </a:t>
                      </a:r>
                    </a:p>
                    <a:p>
                      <a:r>
                        <a:rPr kumimoji="0" lang="en-US" b="0" i="0" kern="1200" baseline="0" dirty="0" smtClean="0">
                          <a:solidFill>
                            <a:schemeClr val="dk1"/>
                          </a:solidFill>
                          <a:effectLst/>
                          <a:latin typeface="+mn-lt"/>
                          <a:ea typeface="+mn-ea"/>
                          <a:cs typeface="+mn-cs"/>
                        </a:rPr>
                        <a:t>They </a:t>
                      </a:r>
                      <a:r>
                        <a:rPr kumimoji="0" lang="en-US" b="0" i="0" kern="1200" baseline="0" dirty="0" err="1" smtClean="0">
                          <a:solidFill>
                            <a:schemeClr val="dk1"/>
                          </a:solidFill>
                          <a:effectLst/>
                          <a:latin typeface="+mn-lt"/>
                          <a:ea typeface="+mn-ea"/>
                          <a:cs typeface="+mn-cs"/>
                        </a:rPr>
                        <a:t>annoted</a:t>
                      </a:r>
                      <a:r>
                        <a:rPr kumimoji="0" lang="en-US" b="0" i="0" kern="1200" baseline="0" dirty="0" smtClean="0">
                          <a:solidFill>
                            <a:schemeClr val="dk1"/>
                          </a:solidFill>
                          <a:effectLst/>
                          <a:latin typeface="+mn-lt"/>
                          <a:ea typeface="+mn-ea"/>
                          <a:cs typeface="+mn-cs"/>
                        </a:rPr>
                        <a:t> the images with diseases class along with  disease location. They have used total 3150 images. So the average number of sample per class was 630.</a:t>
                      </a:r>
                    </a:p>
                    <a:p>
                      <a:endParaRPr lang="en-US" dirty="0"/>
                    </a:p>
                  </a:txBody>
                  <a:tcPr/>
                </a:tc>
                <a:tc>
                  <a:txBody>
                    <a:bodyPr/>
                    <a:lstStyle/>
                    <a:p>
                      <a:r>
                        <a:rPr lang="en-US" dirty="0" smtClean="0"/>
                        <a:t>The</a:t>
                      </a:r>
                      <a:r>
                        <a:rPr lang="en-US" baseline="0" dirty="0" smtClean="0"/>
                        <a:t> image contains samples with dynamic background  which helps to prevent </a:t>
                      </a:r>
                      <a:r>
                        <a:rPr lang="en-US" baseline="0" dirty="0" err="1" smtClean="0"/>
                        <a:t>overffiting</a:t>
                      </a:r>
                      <a:r>
                        <a:rPr lang="en-US" baseline="0" dirty="0" smtClean="0"/>
                        <a:t> and make the model usable in real world. They got 97% accuracy both with CNN and Inception in training. The accuracy in test was 95%  for Inception and CNN. They predicted the bounding box of disease along with disease class using YOLOv5 with a accuracy of 99.2%</a:t>
                      </a:r>
                      <a:endParaRPr lang="en-US" dirty="0"/>
                    </a:p>
                  </a:txBody>
                  <a:tcPr/>
                </a:tc>
                <a:tc>
                  <a:txBody>
                    <a:bodyPr/>
                    <a:lstStyle/>
                    <a:p>
                      <a:r>
                        <a:rPr lang="en-US" dirty="0" smtClean="0"/>
                        <a:t>The study only focus</a:t>
                      </a:r>
                      <a:r>
                        <a:rPr lang="en-US" baseline="0" dirty="0" smtClean="0"/>
                        <a:t> on Soybean leaf disease.</a:t>
                      </a:r>
                      <a:endParaRPr lang="en-US" dirty="0"/>
                    </a:p>
                  </a:txBody>
                  <a:tcPr/>
                </a:tc>
              </a:tr>
            </a:tbl>
          </a:graphicData>
        </a:graphic>
      </p:graphicFrame>
    </p:spTree>
    <p:extLst>
      <p:ext uri="{BB962C8B-B14F-4D97-AF65-F5344CB8AC3E}">
        <p14:creationId xmlns:p14="http://schemas.microsoft.com/office/powerpoint/2010/main" val="3356190621"/>
      </p:ext>
    </p:extLst>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991961450"/>
              </p:ext>
            </p:extLst>
          </p:nvPr>
        </p:nvGraphicFramePr>
        <p:xfrm>
          <a:off x="914400" y="1784350"/>
          <a:ext cx="7772400" cy="3571240"/>
        </p:xfrm>
        <a:graphic>
          <a:graphicData uri="http://schemas.openxmlformats.org/drawingml/2006/table">
            <a:tbl>
              <a:tblPr firstRow="1" bandRow="1">
                <a:tableStyleId>{08FB837D-C827-4EFA-A057-4D05807E0F7C}</a:tableStyleId>
              </a:tblPr>
              <a:tblGrid>
                <a:gridCol w="1065312"/>
                <a:gridCol w="6707088"/>
              </a:tblGrid>
              <a:tr h="370840">
                <a:tc>
                  <a:txBody>
                    <a:bodyPr/>
                    <a:lstStyle/>
                    <a:p>
                      <a:pPr algn="ctr"/>
                      <a:r>
                        <a:rPr lang="en-US" dirty="0" smtClean="0"/>
                        <a:t>Work No</a:t>
                      </a:r>
                      <a:endParaRPr lang="en-US" dirty="0"/>
                    </a:p>
                  </a:txBody>
                  <a:tcPr/>
                </a:tc>
                <a:tc>
                  <a:txBody>
                    <a:bodyPr/>
                    <a:lstStyle/>
                    <a:p>
                      <a:pPr algn="ctr"/>
                      <a:r>
                        <a:rPr lang="en-US" dirty="0" smtClean="0"/>
                        <a:t>Description</a:t>
                      </a:r>
                      <a:endParaRPr lang="en-US" dirty="0"/>
                    </a:p>
                  </a:txBody>
                  <a:tcPr/>
                </a:tc>
              </a:tr>
              <a:tr h="370840">
                <a:tc>
                  <a:txBody>
                    <a:bodyPr/>
                    <a:lstStyle/>
                    <a:p>
                      <a:pPr algn="ctr"/>
                      <a:r>
                        <a:rPr lang="en-US" dirty="0" smtClean="0"/>
                        <a:t>5</a:t>
                      </a:r>
                      <a:endParaRPr lang="en-US" dirty="0"/>
                    </a:p>
                  </a:txBody>
                  <a:tcPr>
                    <a:solidFill>
                      <a:srgbClr val="0066FF">
                        <a:alpha val="20000"/>
                      </a:srgbClr>
                    </a:solidFill>
                  </a:tcPr>
                </a:tc>
                <a:tc>
                  <a:txBody>
                    <a:bodyPr/>
                    <a:lstStyle/>
                    <a:p>
                      <a:r>
                        <a:rPr lang="en-US" dirty="0" smtClean="0"/>
                        <a:t>The study </a:t>
                      </a:r>
                      <a:r>
                        <a:rPr lang="en-US" baseline="0" dirty="0" smtClean="0"/>
                        <a:t>showed that Plant village dataset is created in controlled lab environment .  All image contains single leaf with a uniform background. Those makes it impossible to use.  It showed the Plant Doc dataset has higher variability with dynamic background and of various viewpoint.  They also created dataset of same kind named Plant </a:t>
                      </a:r>
                      <a:r>
                        <a:rPr lang="en-US" baseline="0" dirty="0" err="1" smtClean="0"/>
                        <a:t>Seg</a:t>
                      </a:r>
                      <a:r>
                        <a:rPr lang="en-US" baseline="0" dirty="0" smtClean="0"/>
                        <a:t> containing images of 115 diseases.</a:t>
                      </a:r>
                      <a:endParaRPr lang="en-US" dirty="0"/>
                    </a:p>
                  </a:txBody>
                  <a:tcPr>
                    <a:solidFill>
                      <a:srgbClr val="0066FF">
                        <a:alpha val="20000"/>
                      </a:srgbClr>
                    </a:solidFill>
                  </a:tcPr>
                </a:tc>
              </a:tr>
              <a:tr h="370840">
                <a:tc>
                  <a:txBody>
                    <a:bodyPr/>
                    <a:lstStyle/>
                    <a:p>
                      <a:pPr algn="ctr"/>
                      <a:r>
                        <a:rPr lang="en-US" dirty="0" smtClean="0"/>
                        <a:t>6</a:t>
                      </a:r>
                      <a:endParaRPr lang="en-US" dirty="0"/>
                    </a:p>
                  </a:txBody>
                  <a:tcPr>
                    <a:solidFill>
                      <a:srgbClr val="0066FF">
                        <a:alpha val="20000"/>
                      </a:srgbClr>
                    </a:solidFill>
                  </a:tcPr>
                </a:tc>
                <a:tc>
                  <a:txBody>
                    <a:bodyPr/>
                    <a:lstStyle/>
                    <a:p>
                      <a:r>
                        <a:rPr lang="en-US" dirty="0" smtClean="0"/>
                        <a:t>The study reviewed</a:t>
                      </a:r>
                      <a:r>
                        <a:rPr lang="en-US" baseline="0" dirty="0" smtClean="0"/>
                        <a:t> pervious work. It mentioned that Plant Village dataset have lack of image with complex background which make it not suitable for  Deep Learning model.  It also reviewed Plant Doc dataset. It suggest that the dataset might have miss classification due to lack of domain </a:t>
                      </a:r>
                      <a:r>
                        <a:rPr lang="en-US" baseline="0" dirty="0" err="1" smtClean="0"/>
                        <a:t>experties</a:t>
                      </a:r>
                      <a:r>
                        <a:rPr lang="en-US" baseline="0" dirty="0" smtClean="0"/>
                        <a:t>.</a:t>
                      </a:r>
                      <a:endParaRPr lang="en-US" dirty="0"/>
                    </a:p>
                  </a:txBody>
                  <a:tcPr>
                    <a:solidFill>
                      <a:srgbClr val="0066FF">
                        <a:alpha val="20000"/>
                      </a:srgbClr>
                    </a:solidFill>
                  </a:tcPr>
                </a:tc>
              </a:tr>
            </a:tbl>
          </a:graphicData>
        </a:graphic>
      </p:graphicFrame>
    </p:spTree>
    <p:extLst>
      <p:ext uri="{BB962C8B-B14F-4D97-AF65-F5344CB8AC3E}">
        <p14:creationId xmlns:p14="http://schemas.microsoft.com/office/powerpoint/2010/main" val="2254933800"/>
      </p:ext>
    </p:extLst>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p>
        </p:txBody>
      </p:sp>
      <p:sp>
        <p:nvSpPr>
          <p:cNvPr id="3" name="Content Placeholder 2"/>
          <p:cNvSpPr>
            <a:spLocks noGrp="1"/>
          </p:cNvSpPr>
          <p:nvPr>
            <p:ph idx="1"/>
          </p:nvPr>
        </p:nvSpPr>
        <p:spPr/>
        <p:txBody>
          <a:bodyPr>
            <a:normAutofit/>
          </a:bodyPr>
          <a:lstStyle/>
          <a:p>
            <a:pPr>
              <a:buFont typeface="+mj-lt"/>
              <a:buAutoNum type="arabicPeriod"/>
            </a:pPr>
            <a:r>
              <a:rPr lang="en-US" sz="1200" dirty="0" smtClean="0"/>
              <a:t>Md</a:t>
            </a:r>
            <a:r>
              <a:rPr lang="en-US" sz="1200" dirty="0"/>
              <a:t>. Jalal </a:t>
            </a:r>
            <a:r>
              <a:rPr lang="en-US" sz="1200" dirty="0" err="1"/>
              <a:t>Uddin</a:t>
            </a:r>
            <a:r>
              <a:rPr lang="en-US" sz="1200" dirty="0"/>
              <a:t> </a:t>
            </a:r>
            <a:r>
              <a:rPr lang="en-US" sz="1200" dirty="0" err="1"/>
              <a:t>Chowdhury</a:t>
            </a:r>
            <a:r>
              <a:rPr lang="en-US" sz="1200" dirty="0"/>
              <a:t> and </a:t>
            </a:r>
            <a:r>
              <a:rPr lang="en-US" sz="1200" dirty="0" err="1"/>
              <a:t>Zumana</a:t>
            </a:r>
            <a:r>
              <a:rPr lang="en-US" sz="1200" dirty="0"/>
              <a:t> Islam </a:t>
            </a:r>
            <a:r>
              <a:rPr lang="en-US" sz="1200" dirty="0" err="1"/>
              <a:t>Mou</a:t>
            </a:r>
            <a:r>
              <a:rPr lang="en-US" sz="1200" dirty="0"/>
              <a:t> and </a:t>
            </a:r>
            <a:r>
              <a:rPr lang="en-US" sz="1200" dirty="0" err="1"/>
              <a:t>Rezwana</a:t>
            </a:r>
            <a:r>
              <a:rPr lang="en-US" sz="1200" dirty="0"/>
              <a:t> Afrin </a:t>
            </a:r>
            <a:r>
              <a:rPr lang="en-US" sz="1200" dirty="0" err="1"/>
              <a:t>andShafkat</a:t>
            </a:r>
            <a:r>
              <a:rPr lang="en-US" sz="1200" dirty="0"/>
              <a:t> </a:t>
            </a:r>
            <a:r>
              <a:rPr lang="en-US" sz="1200" dirty="0" err="1"/>
              <a:t>Kibria</a:t>
            </a:r>
            <a:r>
              <a:rPr lang="en-US" sz="1200" dirty="0"/>
              <a:t> , “Plant Leaf Disease Detection and Classification Using Deep240Learning: A Review and A Proposed System on Bangladesh’s Perspective</a:t>
            </a:r>
            <a:r>
              <a:rPr lang="en-US" sz="1200" dirty="0" smtClean="0"/>
              <a:t>”</a:t>
            </a:r>
          </a:p>
          <a:p>
            <a:pPr>
              <a:buFont typeface="+mj-lt"/>
              <a:buAutoNum type="arabicPeriod"/>
            </a:pPr>
            <a:r>
              <a:rPr lang="en-US" sz="1200" dirty="0" err="1"/>
              <a:t>Guerrero-Iba˜nez</a:t>
            </a:r>
            <a:r>
              <a:rPr lang="en-US" sz="1200" dirty="0"/>
              <a:t> A and </a:t>
            </a:r>
            <a:r>
              <a:rPr lang="en-US" sz="1200" dirty="0" err="1"/>
              <a:t>Reyes-Mu˜noz</a:t>
            </a:r>
            <a:r>
              <a:rPr lang="en-US" sz="1200" dirty="0"/>
              <a:t> A., “Monitoring tomato leaf </a:t>
            </a:r>
            <a:r>
              <a:rPr lang="en-US" sz="1200" dirty="0" err="1"/>
              <a:t>diseasethrough</a:t>
            </a:r>
            <a:r>
              <a:rPr lang="en-US" sz="1200" dirty="0"/>
              <a:t> convolutional neural networks.”, Electron, 2023</a:t>
            </a:r>
            <a:r>
              <a:rPr lang="en-US" sz="1200" dirty="0" smtClean="0"/>
              <a:t>.</a:t>
            </a:r>
          </a:p>
          <a:p>
            <a:pPr>
              <a:buFont typeface="+mj-lt"/>
              <a:buAutoNum type="arabicPeriod"/>
            </a:pPr>
            <a:r>
              <a:rPr lang="en-US" sz="1200" dirty="0"/>
              <a:t>Khan F and </a:t>
            </a:r>
            <a:r>
              <a:rPr lang="en-US" sz="1200" dirty="0" err="1"/>
              <a:t>Zafar</a:t>
            </a:r>
            <a:r>
              <a:rPr lang="en-US" sz="1200" dirty="0"/>
              <a:t> N and </a:t>
            </a:r>
            <a:r>
              <a:rPr lang="en-US" sz="1200" dirty="0" err="1"/>
              <a:t>Tahir</a:t>
            </a:r>
            <a:r>
              <a:rPr lang="en-US" sz="1200" dirty="0"/>
              <a:t> MN and </a:t>
            </a:r>
            <a:r>
              <a:rPr lang="en-US" sz="1200" dirty="0" err="1"/>
              <a:t>Aqib</a:t>
            </a:r>
            <a:r>
              <a:rPr lang="en-US" sz="1200" dirty="0"/>
              <a:t> M and </a:t>
            </a:r>
            <a:r>
              <a:rPr lang="en-US" sz="1200" dirty="0" err="1"/>
              <a:t>Waheed</a:t>
            </a:r>
            <a:r>
              <a:rPr lang="en-US" sz="1200" dirty="0"/>
              <a:t> H and Ha-</a:t>
            </a:r>
            <a:r>
              <a:rPr lang="en-US" sz="1200" dirty="0" err="1"/>
              <a:t>roon</a:t>
            </a:r>
            <a:r>
              <a:rPr lang="en-US" sz="1200" dirty="0"/>
              <a:t> Z., “A mobile-based system for maize plant leaf disease detection </a:t>
            </a:r>
            <a:r>
              <a:rPr lang="en-US" sz="1200" dirty="0" err="1"/>
              <a:t>andclassification</a:t>
            </a:r>
            <a:r>
              <a:rPr lang="en-US" sz="1200" dirty="0"/>
              <a:t> using deep learning”, Front Plant </a:t>
            </a:r>
            <a:r>
              <a:rPr lang="en-US" sz="1200" dirty="0" err="1"/>
              <a:t>Sci</a:t>
            </a:r>
            <a:r>
              <a:rPr lang="en-US" sz="1200" dirty="0"/>
              <a:t>, </a:t>
            </a:r>
            <a:r>
              <a:rPr lang="en-US" sz="1200" dirty="0" smtClean="0"/>
              <a:t>2023</a:t>
            </a:r>
          </a:p>
          <a:p>
            <a:pPr>
              <a:buFont typeface="+mj-lt"/>
              <a:buAutoNum type="arabicPeriod"/>
            </a:pPr>
            <a:r>
              <a:rPr lang="en-US" sz="1200" dirty="0" err="1"/>
              <a:t>Divyanshu</a:t>
            </a:r>
            <a:r>
              <a:rPr lang="en-US" sz="1200" dirty="0"/>
              <a:t> </a:t>
            </a:r>
            <a:r>
              <a:rPr lang="en-US" sz="1200" dirty="0" err="1"/>
              <a:t>Tirkey</a:t>
            </a:r>
            <a:r>
              <a:rPr lang="en-US" sz="1200" dirty="0"/>
              <a:t> and </a:t>
            </a:r>
            <a:r>
              <a:rPr lang="en-US" sz="1200" dirty="0" err="1"/>
              <a:t>Kshitiz</a:t>
            </a:r>
            <a:r>
              <a:rPr lang="en-US" sz="1200" dirty="0"/>
              <a:t> Kumar Singh and </a:t>
            </a:r>
            <a:r>
              <a:rPr lang="en-US" sz="1200" dirty="0" err="1"/>
              <a:t>Shrivishal</a:t>
            </a:r>
            <a:r>
              <a:rPr lang="en-US" sz="1200" dirty="0"/>
              <a:t> </a:t>
            </a:r>
            <a:r>
              <a:rPr lang="en-US" sz="1200" dirty="0" err="1"/>
              <a:t>Tripathi</a:t>
            </a:r>
            <a:r>
              <a:rPr lang="en-US" sz="1200" dirty="0"/>
              <a:t> , “Per-250formance analysis of AI-based solutions for crop disease identification, de-</a:t>
            </a:r>
            <a:r>
              <a:rPr lang="en-US" sz="1200" dirty="0" err="1"/>
              <a:t>tection</a:t>
            </a:r>
            <a:r>
              <a:rPr lang="en-US" sz="1200" dirty="0"/>
              <a:t>, and classification </a:t>
            </a:r>
            <a:r>
              <a:rPr lang="en-US" sz="1200" dirty="0" smtClean="0"/>
              <a:t>”</a:t>
            </a:r>
          </a:p>
          <a:p>
            <a:pPr>
              <a:buFont typeface="+mj-lt"/>
              <a:buAutoNum type="arabicPeriod"/>
            </a:pPr>
            <a:r>
              <a:rPr lang="en-US" sz="1200" dirty="0" err="1"/>
              <a:t>Tianqi</a:t>
            </a:r>
            <a:r>
              <a:rPr lang="en-US" sz="1200" dirty="0"/>
              <a:t> Wei and </a:t>
            </a:r>
            <a:r>
              <a:rPr lang="en-US" sz="1200" dirty="0" err="1"/>
              <a:t>Xin</a:t>
            </a:r>
            <a:r>
              <a:rPr lang="en-US" sz="1200" dirty="0"/>
              <a:t> Yu and Paul </a:t>
            </a:r>
            <a:r>
              <a:rPr lang="en-US" sz="1200" dirty="0" err="1"/>
              <a:t>Melloy</a:t>
            </a:r>
            <a:r>
              <a:rPr lang="en-US" sz="1200" dirty="0"/>
              <a:t> and </a:t>
            </a:r>
            <a:r>
              <a:rPr lang="en-US" sz="1200" dirty="0" err="1"/>
              <a:t>Zhi</a:t>
            </a:r>
            <a:r>
              <a:rPr lang="en-US" sz="1200" dirty="0"/>
              <a:t> Chen and Scott Chap-man and </a:t>
            </a:r>
            <a:r>
              <a:rPr lang="en-US" sz="1200" dirty="0" err="1"/>
              <a:t>Zi</a:t>
            </a:r>
            <a:r>
              <a:rPr lang="en-US" sz="1200" dirty="0"/>
              <a:t> Huang, “</a:t>
            </a:r>
            <a:r>
              <a:rPr lang="en-US" sz="1200" dirty="0" err="1"/>
              <a:t>PlantSeg</a:t>
            </a:r>
            <a:r>
              <a:rPr lang="en-US" sz="1200" dirty="0"/>
              <a:t>: A Large-Scale In-the-wild Dataset for Plant245Disease Segmentation</a:t>
            </a:r>
            <a:r>
              <a:rPr lang="en-US" sz="1200" dirty="0" smtClean="0"/>
              <a:t>”</a:t>
            </a:r>
          </a:p>
          <a:p>
            <a:pPr>
              <a:buFont typeface="+mj-lt"/>
              <a:buAutoNum type="arabicPeriod"/>
            </a:pPr>
            <a:r>
              <a:rPr lang="en-US" sz="1200" dirty="0" err="1" smtClean="0"/>
              <a:t>Tanko</a:t>
            </a:r>
            <a:r>
              <a:rPr lang="en-US" sz="1200" dirty="0" smtClean="0"/>
              <a:t> </a:t>
            </a:r>
            <a:r>
              <a:rPr lang="en-US" sz="1200" dirty="0"/>
              <a:t>Daniel </a:t>
            </a:r>
            <a:r>
              <a:rPr lang="en-US" sz="1200" dirty="0" err="1"/>
              <a:t>Salka</a:t>
            </a:r>
            <a:r>
              <a:rPr lang="en-US" sz="1200" dirty="0"/>
              <a:t>, </a:t>
            </a:r>
            <a:r>
              <a:rPr lang="en-US" sz="1200" dirty="0" err="1"/>
              <a:t>Marsyita</a:t>
            </a:r>
            <a:r>
              <a:rPr lang="en-US" sz="1200" dirty="0"/>
              <a:t> </a:t>
            </a:r>
            <a:r>
              <a:rPr lang="en-US" sz="1200" dirty="0" err="1"/>
              <a:t>Binti</a:t>
            </a:r>
            <a:r>
              <a:rPr lang="en-US" sz="1200" dirty="0"/>
              <a:t> </a:t>
            </a:r>
            <a:r>
              <a:rPr lang="en-US" sz="1200" dirty="0" err="1"/>
              <a:t>Hanafi</a:t>
            </a:r>
            <a:r>
              <a:rPr lang="en-US" sz="1200" dirty="0"/>
              <a:t>, </a:t>
            </a:r>
            <a:r>
              <a:rPr lang="en-US" sz="1200" dirty="0" err="1"/>
              <a:t>Sharifah</a:t>
            </a:r>
            <a:r>
              <a:rPr lang="en-US" sz="1200" dirty="0"/>
              <a:t> M. Syed Ahmad </a:t>
            </a:r>
            <a:r>
              <a:rPr lang="en-US" sz="1200" dirty="0" err="1"/>
              <a:t>AbdulRahman</a:t>
            </a:r>
            <a:r>
              <a:rPr lang="en-US" sz="1200" dirty="0"/>
              <a:t>, </a:t>
            </a:r>
            <a:r>
              <a:rPr lang="en-US" sz="1200" dirty="0" err="1"/>
              <a:t>Dzarifah</a:t>
            </a:r>
            <a:r>
              <a:rPr lang="en-US" sz="1200" dirty="0"/>
              <a:t> </a:t>
            </a:r>
            <a:r>
              <a:rPr lang="en-US" sz="1200" dirty="0" err="1"/>
              <a:t>Binti</a:t>
            </a:r>
            <a:r>
              <a:rPr lang="en-US" sz="1200" dirty="0"/>
              <a:t> Mohamed </a:t>
            </a:r>
            <a:r>
              <a:rPr lang="en-US" sz="1200" dirty="0" err="1"/>
              <a:t>Zulperi</a:t>
            </a:r>
            <a:r>
              <a:rPr lang="en-US" sz="1200" dirty="0"/>
              <a:t>, and </a:t>
            </a:r>
            <a:r>
              <a:rPr lang="en-US" sz="1200" dirty="0" err="1"/>
              <a:t>Zaid</a:t>
            </a:r>
            <a:r>
              <a:rPr lang="en-US" sz="1200" dirty="0"/>
              <a:t> Omar, “Plant leaf265disease detection and classification using convolution neural networks </a:t>
            </a:r>
            <a:r>
              <a:rPr lang="en-US" sz="1200" dirty="0" err="1"/>
              <a:t>model:a</a:t>
            </a:r>
            <a:r>
              <a:rPr lang="en-US" sz="1200" dirty="0"/>
              <a:t> review,</a:t>
            </a:r>
            <a:endParaRPr lang="en-US" sz="1200" dirty="0" smtClean="0"/>
          </a:p>
          <a:p>
            <a:pPr>
              <a:buFont typeface="+mj-lt"/>
              <a:buAutoNum type="arabicPeriod"/>
            </a:pPr>
            <a:endParaRPr lang="en-US" sz="1200" dirty="0"/>
          </a:p>
        </p:txBody>
      </p:sp>
    </p:spTree>
    <p:extLst>
      <p:ext uri="{BB962C8B-B14F-4D97-AF65-F5344CB8AC3E}">
        <p14:creationId xmlns:p14="http://schemas.microsoft.com/office/powerpoint/2010/main" val="1918265150"/>
      </p:ext>
    </p:extLst>
  </p:cSld>
  <p:clrMapOvr>
    <a:masterClrMapping/>
  </p:clrMapOvr>
  <p:transition spd="slow">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p:txBody>
          <a:bodyPr/>
          <a:lstStyle/>
          <a:p>
            <a:pPr marL="582930" indent="-514350">
              <a:buFont typeface="+mj-lt"/>
              <a:buAutoNum type="arabicPeriod"/>
            </a:pPr>
            <a:r>
              <a:rPr lang="en-US" dirty="0" smtClean="0"/>
              <a:t>To show limitation of existing work.</a:t>
            </a:r>
          </a:p>
          <a:p>
            <a:pPr marL="582930" indent="-514350">
              <a:buFont typeface="+mj-lt"/>
              <a:buAutoNum type="arabicPeriod"/>
            </a:pPr>
            <a:r>
              <a:rPr lang="en-US" dirty="0" smtClean="0"/>
              <a:t>To show path of developing a system that can identify plant leaf disease in real </a:t>
            </a:r>
            <a:r>
              <a:rPr lang="en-US" dirty="0" smtClean="0"/>
              <a:t>world.</a:t>
            </a:r>
            <a:endParaRPr lang="en-US" dirty="0"/>
          </a:p>
        </p:txBody>
      </p:sp>
    </p:spTree>
    <p:extLst>
      <p:ext uri="{BB962C8B-B14F-4D97-AF65-F5344CB8AC3E}">
        <p14:creationId xmlns:p14="http://schemas.microsoft.com/office/powerpoint/2010/main" val="2816867880"/>
      </p:ext>
    </p:extLst>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Dataset</a:t>
            </a:r>
            <a:endParaRPr lang="en-US" dirty="0"/>
          </a:p>
        </p:txBody>
      </p:sp>
      <p:sp>
        <p:nvSpPr>
          <p:cNvPr id="3" name="Content Placeholder 2"/>
          <p:cNvSpPr>
            <a:spLocks noGrp="1"/>
          </p:cNvSpPr>
          <p:nvPr>
            <p:ph idx="1"/>
          </p:nvPr>
        </p:nvSpPr>
        <p:spPr/>
        <p:txBody>
          <a:bodyPr>
            <a:normAutofit/>
          </a:bodyPr>
          <a:lstStyle/>
          <a:p>
            <a:pPr marL="68580" indent="0">
              <a:buNone/>
            </a:pPr>
            <a:r>
              <a:rPr lang="en-US" sz="1800" dirty="0" smtClean="0"/>
              <a:t>We have studied various publicly available dataset like Plant Village, Plant  Doc , Plant </a:t>
            </a:r>
            <a:r>
              <a:rPr lang="en-US" sz="1800" dirty="0" err="1" smtClean="0"/>
              <a:t>Seg</a:t>
            </a:r>
            <a:r>
              <a:rPr lang="en-US" sz="1800" dirty="0" smtClean="0"/>
              <a:t> and other data source.</a:t>
            </a:r>
          </a:p>
          <a:p>
            <a:pPr marL="68580" indent="0">
              <a:buNone/>
            </a:pPr>
            <a:r>
              <a:rPr lang="en-US" sz="1800" dirty="0" smtClean="0"/>
              <a:t>A research group from University of Queens land have plotted the resolution distribution of </a:t>
            </a:r>
            <a:r>
              <a:rPr lang="en-US" sz="1800" dirty="0"/>
              <a:t>Plant Village, Plant  Doc , Plant </a:t>
            </a:r>
            <a:r>
              <a:rPr lang="en-US" sz="1800" dirty="0" err="1" smtClean="0"/>
              <a:t>Seg</a:t>
            </a:r>
            <a:r>
              <a:rPr lang="en-US" sz="1800" dirty="0" smtClean="0"/>
              <a:t>. It is shown below:</a:t>
            </a:r>
          </a:p>
          <a:p>
            <a:pPr marL="68580" indent="0">
              <a:buNone/>
            </a:pPr>
            <a:endParaRPr lang="en-US" sz="1800" dirty="0" smtClean="0"/>
          </a:p>
          <a:p>
            <a:pPr marL="68580" indent="0">
              <a:buNone/>
            </a:pP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3482249"/>
            <a:ext cx="7789738" cy="2600688"/>
          </a:xfrm>
          <a:prstGeom prst="rect">
            <a:avLst/>
          </a:prstGeom>
        </p:spPr>
      </p:pic>
    </p:spTree>
    <p:extLst>
      <p:ext uri="{BB962C8B-B14F-4D97-AF65-F5344CB8AC3E}">
        <p14:creationId xmlns:p14="http://schemas.microsoft.com/office/powerpoint/2010/main" val="18491707"/>
      </p:ext>
    </p:extLst>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Dataset</a:t>
            </a:r>
            <a:endParaRPr lang="en-US" dirty="0"/>
          </a:p>
        </p:txBody>
      </p:sp>
      <p:sp>
        <p:nvSpPr>
          <p:cNvPr id="3" name="Content Placeholder 2"/>
          <p:cNvSpPr>
            <a:spLocks noGrp="1"/>
          </p:cNvSpPr>
          <p:nvPr>
            <p:ph idx="1"/>
          </p:nvPr>
        </p:nvSpPr>
        <p:spPr/>
        <p:txBody>
          <a:bodyPr/>
          <a:lstStyle/>
          <a:p>
            <a:pPr marL="68580" indent="0">
              <a:buNone/>
            </a:pPr>
            <a:r>
              <a:rPr lang="en-US" dirty="0" smtClean="0"/>
              <a:t>From the following image we can see the </a:t>
            </a:r>
            <a:r>
              <a:rPr lang="en-US" dirty="0" err="1" smtClean="0"/>
              <a:t>comparsion</a:t>
            </a:r>
            <a:r>
              <a:rPr lang="en-US" dirty="0" smtClean="0"/>
              <a:t> of Plant Village and Plant </a:t>
            </a:r>
            <a:r>
              <a:rPr lang="en-US" dirty="0" err="1" smtClean="0"/>
              <a:t>Seg</a:t>
            </a:r>
            <a:r>
              <a:rPr lang="en-US" dirty="0" smtClean="0"/>
              <a:t> dataset:</a:t>
            </a:r>
          </a:p>
          <a:p>
            <a:pPr marL="6858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880" y="2780928"/>
            <a:ext cx="2448272" cy="1440161"/>
          </a:xfrm>
          <a:prstGeom prst="rect">
            <a:avLst/>
          </a:prstGeom>
        </p:spPr>
      </p:pic>
      <p:sp>
        <p:nvSpPr>
          <p:cNvPr id="5" name="TextBox 4"/>
          <p:cNvSpPr txBox="1"/>
          <p:nvPr/>
        </p:nvSpPr>
        <p:spPr>
          <a:xfrm>
            <a:off x="3743908" y="4156453"/>
            <a:ext cx="1944216" cy="369332"/>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Plant  Village</a:t>
            </a:r>
            <a:endPar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872297" y="4341119"/>
            <a:ext cx="2366532" cy="1397174"/>
          </a:xfrm>
          <a:prstGeom prst="rect">
            <a:avLst/>
          </a:prstGeom>
        </p:spPr>
      </p:pic>
      <p:sp>
        <p:nvSpPr>
          <p:cNvPr id="8" name="TextBox 7"/>
          <p:cNvSpPr txBox="1"/>
          <p:nvPr/>
        </p:nvSpPr>
        <p:spPr>
          <a:xfrm>
            <a:off x="1279975" y="5738293"/>
            <a:ext cx="1551175" cy="369332"/>
          </a:xfrm>
          <a:prstGeom prst="rect">
            <a:avLst/>
          </a:prstGeom>
          <a:noFill/>
        </p:spPr>
        <p:txBody>
          <a:bodyPr wrap="square" rtlCol="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r>
              <a:rPr lang="en-US"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Plant Doc</a:t>
            </a:r>
            <a:endParaRPr lang="en-US"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8184" y="4350187"/>
            <a:ext cx="2456393" cy="1354094"/>
          </a:xfrm>
          <a:prstGeom prst="rect">
            <a:avLst/>
          </a:prstGeom>
        </p:spPr>
      </p:pic>
      <p:sp>
        <p:nvSpPr>
          <p:cNvPr id="11" name="TextBox 10"/>
          <p:cNvSpPr txBox="1"/>
          <p:nvPr/>
        </p:nvSpPr>
        <p:spPr>
          <a:xfrm>
            <a:off x="6876256" y="5739501"/>
            <a:ext cx="1512168" cy="369332"/>
          </a:xfrm>
          <a:prstGeom prst="rect">
            <a:avLst/>
          </a:prstGeom>
          <a:noFill/>
        </p:spPr>
        <p:txBody>
          <a:bodyPr wrap="square" rtlCol="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r>
              <a:rPr lang="en-US"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Plant </a:t>
            </a:r>
            <a:r>
              <a:rPr lang="en-US" b="1" cap="all" dirty="0" err="1"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Seg</a:t>
            </a:r>
            <a:endParaRPr lang="en-US"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extLst>
      <p:ext uri="{BB962C8B-B14F-4D97-AF65-F5344CB8AC3E}">
        <p14:creationId xmlns:p14="http://schemas.microsoft.com/office/powerpoint/2010/main" val="534083483"/>
      </p:ext>
    </p:extLst>
  </p:cSld>
  <p:clrMapOvr>
    <a:masterClrMapping/>
  </p:clrMapOvr>
  <p:transition spd="slow">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Augmentation</a:t>
            </a:r>
            <a:endParaRPr lang="en-US" dirty="0"/>
          </a:p>
        </p:txBody>
      </p:sp>
      <p:sp>
        <p:nvSpPr>
          <p:cNvPr id="3" name="Content Placeholder 2"/>
          <p:cNvSpPr>
            <a:spLocks noGrp="1"/>
          </p:cNvSpPr>
          <p:nvPr>
            <p:ph idx="1"/>
          </p:nvPr>
        </p:nvSpPr>
        <p:spPr/>
        <p:txBody>
          <a:bodyPr>
            <a:normAutofit/>
          </a:bodyPr>
          <a:lstStyle/>
          <a:p>
            <a:pPr marL="68580" indent="0">
              <a:buNone/>
            </a:pPr>
            <a:r>
              <a:rPr lang="en-US" sz="1800" dirty="0" smtClean="0"/>
              <a:t>We performed following data augmentation on train data to reduce </a:t>
            </a:r>
            <a:r>
              <a:rPr lang="en-US" sz="1800" dirty="0" err="1" smtClean="0"/>
              <a:t>overfitting</a:t>
            </a:r>
            <a:r>
              <a:rPr lang="en-US" sz="1800" dirty="0" smtClean="0"/>
              <a:t>.</a:t>
            </a:r>
          </a:p>
          <a:p>
            <a:pPr marL="582930" indent="-514350">
              <a:buFont typeface="+mj-lt"/>
              <a:buAutoNum type="arabicPeriod"/>
            </a:pPr>
            <a:r>
              <a:rPr lang="en-US" sz="1800" dirty="0" smtClean="0"/>
              <a:t>Scaling into 320*320</a:t>
            </a:r>
          </a:p>
          <a:p>
            <a:pPr marL="582930" indent="-514350">
              <a:buFont typeface="+mj-lt"/>
              <a:buAutoNum type="arabicPeriod"/>
            </a:pPr>
            <a:r>
              <a:rPr lang="en-US" sz="1800" dirty="0" smtClean="0"/>
              <a:t> Random Flip</a:t>
            </a:r>
          </a:p>
          <a:p>
            <a:pPr marL="582930" indent="-514350">
              <a:buFont typeface="+mj-lt"/>
              <a:buAutoNum type="arabicPeriod"/>
            </a:pPr>
            <a:r>
              <a:rPr lang="en-US" sz="1800" dirty="0" smtClean="0"/>
              <a:t>Random Rotation</a:t>
            </a:r>
          </a:p>
          <a:p>
            <a:pPr marL="582930" indent="-514350">
              <a:buFont typeface="+mj-lt"/>
              <a:buAutoNum type="arabicPeriod"/>
            </a:pPr>
            <a:r>
              <a:rPr lang="en-US" sz="1800" dirty="0" smtClean="0"/>
              <a:t>Random Color Jitter</a:t>
            </a:r>
          </a:p>
          <a:p>
            <a:pPr marL="68580" indent="0">
              <a:buNone/>
            </a:pPr>
            <a:r>
              <a:rPr lang="en-US" sz="1800" dirty="0" smtClean="0"/>
              <a:t>For validation and test data we performed following </a:t>
            </a:r>
            <a:r>
              <a:rPr lang="en-US" sz="1800" dirty="0" err="1" smtClean="0"/>
              <a:t>agumentation</a:t>
            </a:r>
            <a:r>
              <a:rPr lang="en-US" sz="1800" dirty="0" smtClean="0"/>
              <a:t>:</a:t>
            </a:r>
          </a:p>
          <a:p>
            <a:pPr marL="582930" indent="-514350">
              <a:buFont typeface="+mj-lt"/>
              <a:buAutoNum type="arabicPeriod"/>
            </a:pPr>
            <a:r>
              <a:rPr lang="en-US" sz="1800" dirty="0" smtClean="0"/>
              <a:t>Scaling into 320*320</a:t>
            </a:r>
            <a:endParaRPr lang="en-US" sz="1800" dirty="0"/>
          </a:p>
        </p:txBody>
      </p:sp>
    </p:spTree>
    <p:extLst>
      <p:ext uri="{BB962C8B-B14F-4D97-AF65-F5344CB8AC3E}">
        <p14:creationId xmlns:p14="http://schemas.microsoft.com/office/powerpoint/2010/main" val="2438376246"/>
      </p:ext>
    </p:extLst>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Architecture</a:t>
            </a:r>
            <a:endParaRPr lang="en-US" dirty="0"/>
          </a:p>
        </p:txBody>
      </p:sp>
      <p:sp>
        <p:nvSpPr>
          <p:cNvPr id="3" name="Content Placeholder 2"/>
          <p:cNvSpPr>
            <a:spLocks noGrp="1"/>
          </p:cNvSpPr>
          <p:nvPr>
            <p:ph idx="1"/>
          </p:nvPr>
        </p:nvSpPr>
        <p:spPr/>
        <p:txBody>
          <a:bodyPr/>
          <a:lstStyle/>
          <a:p>
            <a:pPr marL="68580" indent="0">
              <a:buNone/>
            </a:pPr>
            <a:r>
              <a:rPr lang="en-US" dirty="0" smtClean="0"/>
              <a:t>We used the backbone of  YOLOv8 as features extractor and used custom classification head.</a:t>
            </a:r>
          </a:p>
          <a:p>
            <a:pPr marL="68580" indent="0">
              <a:buNone/>
            </a:pPr>
            <a:r>
              <a:rPr lang="en-US" dirty="0" smtClean="0"/>
              <a:t>The block diagram of our model:</a:t>
            </a:r>
          </a:p>
          <a:p>
            <a:pPr marL="6858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78" y="3501008"/>
            <a:ext cx="7272808" cy="2516623"/>
          </a:xfrm>
          <a:prstGeom prst="rect">
            <a:avLst/>
          </a:prstGeom>
        </p:spPr>
      </p:pic>
    </p:spTree>
    <p:extLst>
      <p:ext uri="{BB962C8B-B14F-4D97-AF65-F5344CB8AC3E}">
        <p14:creationId xmlns:p14="http://schemas.microsoft.com/office/powerpoint/2010/main" val="186852639"/>
      </p:ext>
    </p:extLst>
  </p:cSld>
  <p:clrMapOvr>
    <a:masterClrMapping/>
  </p:clrMapOvr>
  <p:transition spd="slow">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Architecture</a:t>
            </a:r>
          </a:p>
        </p:txBody>
      </p:sp>
      <p:sp>
        <p:nvSpPr>
          <p:cNvPr id="3" name="Content Placeholder 2"/>
          <p:cNvSpPr>
            <a:spLocks noGrp="1"/>
          </p:cNvSpPr>
          <p:nvPr>
            <p:ph idx="1"/>
          </p:nvPr>
        </p:nvSpPr>
        <p:spPr/>
        <p:txBody>
          <a:bodyPr/>
          <a:lstStyle/>
          <a:p>
            <a:r>
              <a:rPr lang="en-US" dirty="0" smtClean="0"/>
              <a:t>Our model architecture: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60" y="2420888"/>
            <a:ext cx="6697010" cy="4248472"/>
          </a:xfrm>
          <a:prstGeom prst="rect">
            <a:avLst/>
          </a:prstGeom>
        </p:spPr>
      </p:pic>
    </p:spTree>
    <p:extLst>
      <p:ext uri="{BB962C8B-B14F-4D97-AF65-F5344CB8AC3E}">
        <p14:creationId xmlns:p14="http://schemas.microsoft.com/office/powerpoint/2010/main" val="2563954698"/>
      </p:ext>
    </p:extLst>
  </p:cSld>
  <p:clrMapOvr>
    <a:masterClrMapping/>
  </p:clrMapOvr>
  <p:transition spd="slow">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 and Discussion</a:t>
            </a:r>
            <a:endParaRPr lang="en-US" dirty="0"/>
          </a:p>
        </p:txBody>
      </p:sp>
      <p:sp>
        <p:nvSpPr>
          <p:cNvPr id="3" name="Content Placeholder 2"/>
          <p:cNvSpPr>
            <a:spLocks noGrp="1"/>
          </p:cNvSpPr>
          <p:nvPr>
            <p:ph idx="1"/>
          </p:nvPr>
        </p:nvSpPr>
        <p:spPr/>
        <p:txBody>
          <a:bodyPr/>
          <a:lstStyle/>
          <a:p>
            <a:r>
              <a:rPr lang="en-US" dirty="0" smtClean="0"/>
              <a:t>The train, validation accuracy in different method using plant village dataset is shown below:</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319086"/>
            <a:ext cx="4248472" cy="151216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8312" y="5085184"/>
            <a:ext cx="4238183" cy="162171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3" y="5085184"/>
            <a:ext cx="4248473" cy="1621718"/>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9544" y="3325834"/>
            <a:ext cx="4216951" cy="1505419"/>
          </a:xfrm>
          <a:prstGeom prst="rect">
            <a:avLst/>
          </a:prstGeom>
        </p:spPr>
      </p:pic>
      <p:sp>
        <p:nvSpPr>
          <p:cNvPr id="11" name="Rectangle 10"/>
          <p:cNvSpPr/>
          <p:nvPr/>
        </p:nvSpPr>
        <p:spPr>
          <a:xfrm>
            <a:off x="8172400" y="5597477"/>
            <a:ext cx="720080" cy="936104"/>
          </a:xfrm>
          <a:prstGeom prst="rect">
            <a:avLst/>
          </a:prstGeom>
          <a:solidFill>
            <a:srgbClr val="F62616">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738190"/>
      </p:ext>
    </p:extLst>
  </p:cSld>
  <p:clrMapOvr>
    <a:masterClrMapping/>
  </p:clrMapOvr>
  <p:transition spd="slow">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and Discussion</a:t>
            </a:r>
          </a:p>
        </p:txBody>
      </p:sp>
      <p:sp>
        <p:nvSpPr>
          <p:cNvPr id="3" name="Content Placeholder 2"/>
          <p:cNvSpPr>
            <a:spLocks noGrp="1"/>
          </p:cNvSpPr>
          <p:nvPr>
            <p:ph idx="1"/>
          </p:nvPr>
        </p:nvSpPr>
        <p:spPr/>
        <p:txBody>
          <a:bodyPr/>
          <a:lstStyle/>
          <a:p>
            <a:r>
              <a:rPr lang="en-US" dirty="0"/>
              <a:t>The train, validation accuracy in different method using </a:t>
            </a:r>
            <a:r>
              <a:rPr lang="en-US" dirty="0" smtClean="0"/>
              <a:t>combination of plant doc and plant </a:t>
            </a:r>
            <a:r>
              <a:rPr lang="en-US" dirty="0" err="1" smtClean="0"/>
              <a:t>seg</a:t>
            </a:r>
            <a:r>
              <a:rPr lang="en-US" dirty="0" smtClean="0"/>
              <a:t> dataset </a:t>
            </a:r>
            <a:r>
              <a:rPr lang="en-US" dirty="0"/>
              <a:t>is shown below</a:t>
            </a:r>
            <a:r>
              <a:rPr lang="en-US" dirty="0" smtClean="0"/>
              <a:t>:</a:t>
            </a:r>
          </a:p>
          <a:p>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645023"/>
            <a:ext cx="4104456" cy="11907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016" y="3645023"/>
            <a:ext cx="4248472" cy="1190791"/>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9832" y="5157192"/>
            <a:ext cx="4134427" cy="1267002"/>
          </a:xfrm>
          <a:prstGeom prst="rect">
            <a:avLst/>
          </a:prstGeom>
        </p:spPr>
      </p:pic>
    </p:spTree>
    <p:extLst>
      <p:ext uri="{BB962C8B-B14F-4D97-AF65-F5344CB8AC3E}">
        <p14:creationId xmlns:p14="http://schemas.microsoft.com/office/powerpoint/2010/main" val="1991307197"/>
      </p:ext>
    </p:extLst>
  </p:cSld>
  <p:clrMapOvr>
    <a:masterClrMapping/>
  </p:clrMapOvr>
  <p:transition spd="slow">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and Discussion</a:t>
            </a:r>
          </a:p>
        </p:txBody>
      </p:sp>
      <p:sp>
        <p:nvSpPr>
          <p:cNvPr id="3" name="Content Placeholder 2"/>
          <p:cNvSpPr>
            <a:spLocks noGrp="1"/>
          </p:cNvSpPr>
          <p:nvPr>
            <p:ph idx="1"/>
          </p:nvPr>
        </p:nvSpPr>
        <p:spPr>
          <a:xfrm>
            <a:off x="827584" y="1268760"/>
            <a:ext cx="7859216" cy="5086800"/>
          </a:xfrm>
        </p:spPr>
        <p:txBody>
          <a:bodyPr>
            <a:normAutofit/>
          </a:bodyPr>
          <a:lstStyle/>
          <a:p>
            <a:r>
              <a:rPr lang="en-US" sz="2000" dirty="0" smtClean="0"/>
              <a:t>Confusion matrix for model trained with combination of Plant Doc and Planet </a:t>
            </a:r>
            <a:r>
              <a:rPr lang="en-US" sz="2000" dirty="0" err="1" smtClean="0"/>
              <a:t>Seg</a:t>
            </a:r>
            <a:r>
              <a:rPr lang="en-US" sz="2000" dirty="0" smtClean="0"/>
              <a:t> dataset:</a:t>
            </a:r>
          </a:p>
          <a:p>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988840"/>
            <a:ext cx="7913034" cy="4776583"/>
          </a:xfrm>
          <a:prstGeom prst="rect">
            <a:avLst/>
          </a:prstGeom>
        </p:spPr>
      </p:pic>
    </p:spTree>
    <p:extLst>
      <p:ext uri="{BB962C8B-B14F-4D97-AF65-F5344CB8AC3E}">
        <p14:creationId xmlns:p14="http://schemas.microsoft.com/office/powerpoint/2010/main" val="237624835"/>
      </p:ext>
    </p:extLst>
  </p:cSld>
  <p:clrMapOvr>
    <a:masterClrMapping/>
  </p:clrMapOvr>
  <p:transition spd="slow">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and Discussion</a:t>
            </a:r>
          </a:p>
        </p:txBody>
      </p:sp>
      <p:sp>
        <p:nvSpPr>
          <p:cNvPr id="3" name="Content Placeholder 2"/>
          <p:cNvSpPr>
            <a:spLocks noGrp="1"/>
          </p:cNvSpPr>
          <p:nvPr>
            <p:ph idx="1"/>
          </p:nvPr>
        </p:nvSpPr>
        <p:spPr/>
        <p:txBody>
          <a:bodyPr>
            <a:noAutofit/>
          </a:bodyPr>
          <a:lstStyle/>
          <a:p>
            <a:r>
              <a:rPr lang="en-US" sz="2400" dirty="0" smtClean="0"/>
              <a:t>Plant  that have single class have more error in prediction. So we remove all the single disease class</a:t>
            </a:r>
          </a:p>
          <a:p>
            <a:pPr marL="582930" indent="-514350">
              <a:buFont typeface="+mj-lt"/>
              <a:buAutoNum type="arabicPeriod"/>
            </a:pPr>
            <a:r>
              <a:rPr lang="en-US" sz="2400" dirty="0" smtClean="0"/>
              <a:t>Blueberry</a:t>
            </a:r>
          </a:p>
          <a:p>
            <a:pPr marL="582930" indent="-514350">
              <a:buFont typeface="+mj-lt"/>
              <a:buAutoNum type="arabicPeriod"/>
            </a:pPr>
            <a:r>
              <a:rPr lang="en-US" sz="2400" dirty="0" smtClean="0"/>
              <a:t>Cherry</a:t>
            </a:r>
          </a:p>
          <a:p>
            <a:pPr marL="582930" indent="-514350">
              <a:buFont typeface="+mj-lt"/>
              <a:buAutoNum type="arabicPeriod"/>
            </a:pPr>
            <a:r>
              <a:rPr lang="en-US" sz="2400" dirty="0" smtClean="0"/>
              <a:t>Peach</a:t>
            </a:r>
          </a:p>
          <a:p>
            <a:pPr marL="582930" indent="-514350">
              <a:buFont typeface="+mj-lt"/>
              <a:buAutoNum type="arabicPeriod"/>
            </a:pPr>
            <a:r>
              <a:rPr lang="en-US" sz="2400" dirty="0" err="1" smtClean="0"/>
              <a:t>Ruspberry</a:t>
            </a:r>
            <a:endParaRPr lang="en-US" sz="2400" dirty="0" smtClean="0"/>
          </a:p>
          <a:p>
            <a:pPr marL="582930" indent="-514350">
              <a:buFont typeface="+mj-lt"/>
              <a:buAutoNum type="arabicPeriod"/>
            </a:pPr>
            <a:r>
              <a:rPr lang="en-US" sz="2400" dirty="0" err="1" smtClean="0"/>
              <a:t>Soyabean</a:t>
            </a:r>
            <a:endParaRPr lang="en-US" sz="2400" dirty="0" smtClean="0"/>
          </a:p>
          <a:p>
            <a:r>
              <a:rPr lang="en-US" sz="2400" dirty="0" smtClean="0"/>
              <a:t>The plant tomato also contains relatively high error. So we tried to add more data in existing class of tomato.</a:t>
            </a:r>
          </a:p>
          <a:p>
            <a:r>
              <a:rPr lang="en-US" sz="2400" dirty="0" smtClean="0"/>
              <a:t>We also more disease class for Strawberry which had only a single class</a:t>
            </a:r>
          </a:p>
          <a:p>
            <a:pPr marL="582930" indent="-514350">
              <a:buFont typeface="+mj-lt"/>
              <a:buAutoNum type="arabicPeriod"/>
            </a:pPr>
            <a:endParaRPr lang="en-US" sz="2400" dirty="0"/>
          </a:p>
        </p:txBody>
      </p:sp>
    </p:spTree>
    <p:extLst>
      <p:ext uri="{BB962C8B-B14F-4D97-AF65-F5344CB8AC3E}">
        <p14:creationId xmlns:p14="http://schemas.microsoft.com/office/powerpoint/2010/main" val="789773690"/>
      </p:ext>
    </p:extLst>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and Discussion</a:t>
            </a:r>
          </a:p>
        </p:txBody>
      </p:sp>
      <p:sp>
        <p:nvSpPr>
          <p:cNvPr id="3" name="Content Placeholder 2"/>
          <p:cNvSpPr>
            <a:spLocks noGrp="1"/>
          </p:cNvSpPr>
          <p:nvPr>
            <p:ph idx="1"/>
          </p:nvPr>
        </p:nvSpPr>
        <p:spPr>
          <a:xfrm>
            <a:off x="827584" y="1268760"/>
            <a:ext cx="7772400" cy="4572000"/>
          </a:xfrm>
        </p:spPr>
        <p:txBody>
          <a:bodyPr>
            <a:normAutofit/>
          </a:bodyPr>
          <a:lstStyle/>
          <a:p>
            <a:r>
              <a:rPr lang="en-US" sz="2000" dirty="0" smtClean="0"/>
              <a:t>We removed data of peach and soybean. Because we unable to find good quality dataset to add. We added few new classes of disease for strawberry, potato and pepper. We also added more sample existing class of tomato leaf disease. After that we found following accuracy:</a:t>
            </a:r>
          </a:p>
        </p:txBody>
      </p:sp>
      <p:graphicFrame>
        <p:nvGraphicFramePr>
          <p:cNvPr id="4" name="Table 3"/>
          <p:cNvGraphicFramePr>
            <a:graphicFrameLocks noGrp="1"/>
          </p:cNvGraphicFramePr>
          <p:nvPr>
            <p:extLst>
              <p:ext uri="{D42A27DB-BD31-4B8C-83A1-F6EECF244321}">
                <p14:modId xmlns:p14="http://schemas.microsoft.com/office/powerpoint/2010/main" val="3696161596"/>
              </p:ext>
            </p:extLst>
          </p:nvPr>
        </p:nvGraphicFramePr>
        <p:xfrm>
          <a:off x="1619672" y="3573016"/>
          <a:ext cx="6096000" cy="1478280"/>
        </p:xfrm>
        <a:graphic>
          <a:graphicData uri="http://schemas.openxmlformats.org/drawingml/2006/table">
            <a:tbl>
              <a:tblPr firstRow="1" bandRow="1">
                <a:tableStyleId>{08FB837D-C827-4EFA-A057-4D05807E0F7C}</a:tableStyleId>
              </a:tblPr>
              <a:tblGrid>
                <a:gridCol w="3672408"/>
                <a:gridCol w="1440160"/>
                <a:gridCol w="983432"/>
              </a:tblGrid>
              <a:tr h="370840">
                <a:tc>
                  <a:txBody>
                    <a:bodyPr/>
                    <a:lstStyle/>
                    <a:p>
                      <a:pPr algn="ctr"/>
                      <a:r>
                        <a:rPr lang="en-US" dirty="0" smtClean="0">
                          <a:latin typeface="Cambria" pitchFamily="18" charset="0"/>
                          <a:ea typeface="Cambria" pitchFamily="18" charset="0"/>
                        </a:rPr>
                        <a:t>Method</a:t>
                      </a:r>
                      <a:endParaRPr lang="en-US" dirty="0">
                        <a:latin typeface="Cambria" pitchFamily="18" charset="0"/>
                        <a:ea typeface="Cambria" pitchFamily="18" charset="0"/>
                      </a:endParaRPr>
                    </a:p>
                  </a:txBody>
                  <a:tcPr/>
                </a:tc>
                <a:tc gridSpan="2">
                  <a:txBody>
                    <a:bodyPr/>
                    <a:lstStyle/>
                    <a:p>
                      <a:pPr algn="ctr"/>
                      <a:r>
                        <a:rPr lang="en-US" dirty="0" smtClean="0">
                          <a:latin typeface="Cambria" pitchFamily="18" charset="0"/>
                          <a:ea typeface="Cambria" pitchFamily="18" charset="0"/>
                        </a:rPr>
                        <a:t>Accuracy</a:t>
                      </a:r>
                      <a:endParaRPr lang="en-US" dirty="0">
                        <a:latin typeface="Cambria" pitchFamily="18" charset="0"/>
                        <a:ea typeface="Cambria" pitchFamily="18" charset="0"/>
                      </a:endParaRPr>
                    </a:p>
                  </a:txBody>
                  <a:tcPr/>
                </a:tc>
                <a:tc hMerge="1">
                  <a:txBody>
                    <a:bodyPr/>
                    <a:lstStyle/>
                    <a:p>
                      <a:endParaRPr lang="en-US" dirty="0"/>
                    </a:p>
                  </a:txBody>
                  <a:tcPr/>
                </a:tc>
              </a:tr>
              <a:tr h="370840">
                <a:tc rowSpan="3">
                  <a:txBody>
                    <a:bodyPr/>
                    <a:lstStyle/>
                    <a:p>
                      <a:r>
                        <a:rPr lang="en-US" dirty="0" smtClean="0">
                          <a:latin typeface="Cambria" pitchFamily="18" charset="0"/>
                          <a:ea typeface="Cambria" pitchFamily="18" charset="0"/>
                        </a:rPr>
                        <a:t>YOLOv8+classification</a:t>
                      </a:r>
                      <a:r>
                        <a:rPr lang="en-US" baseline="0" dirty="0" smtClean="0">
                          <a:latin typeface="Cambria" pitchFamily="18" charset="0"/>
                          <a:ea typeface="Cambria" pitchFamily="18" charset="0"/>
                        </a:rPr>
                        <a:t> </a:t>
                      </a:r>
                      <a:r>
                        <a:rPr lang="en-US" baseline="0" dirty="0" err="1" smtClean="0">
                          <a:latin typeface="Cambria" pitchFamily="18" charset="0"/>
                          <a:ea typeface="Cambria" pitchFamily="18" charset="0"/>
                        </a:rPr>
                        <a:t>head+preprocessing</a:t>
                      </a:r>
                      <a:endParaRPr lang="en-US" dirty="0">
                        <a:latin typeface="Cambria" pitchFamily="18" charset="0"/>
                        <a:ea typeface="Cambria" pitchFamily="18" charset="0"/>
                      </a:endParaRPr>
                    </a:p>
                  </a:txBody>
                  <a:tcPr/>
                </a:tc>
                <a:tc>
                  <a:txBody>
                    <a:bodyPr/>
                    <a:lstStyle/>
                    <a:p>
                      <a:r>
                        <a:rPr lang="en-US" dirty="0" smtClean="0">
                          <a:latin typeface="Cambria" pitchFamily="18" charset="0"/>
                          <a:ea typeface="Cambria" pitchFamily="18" charset="0"/>
                        </a:rPr>
                        <a:t>Training</a:t>
                      </a:r>
                      <a:endParaRPr lang="en-US" dirty="0">
                        <a:latin typeface="Cambria" pitchFamily="18" charset="0"/>
                        <a:ea typeface="Cambria" pitchFamily="18" charset="0"/>
                      </a:endParaRPr>
                    </a:p>
                  </a:txBody>
                  <a:tcPr/>
                </a:tc>
                <a:tc>
                  <a:txBody>
                    <a:bodyPr/>
                    <a:lstStyle/>
                    <a:p>
                      <a:r>
                        <a:rPr lang="en-US" dirty="0" smtClean="0">
                          <a:latin typeface="Cambria" pitchFamily="18" charset="0"/>
                          <a:ea typeface="Cambria" pitchFamily="18" charset="0"/>
                        </a:rPr>
                        <a:t>79%</a:t>
                      </a:r>
                      <a:endParaRPr lang="en-US" dirty="0">
                        <a:latin typeface="Cambria" pitchFamily="18" charset="0"/>
                        <a:ea typeface="Cambria" pitchFamily="18" charset="0"/>
                      </a:endParaRPr>
                    </a:p>
                  </a:txBody>
                  <a:tcPr/>
                </a:tc>
              </a:tr>
              <a:tr h="266432">
                <a:tc vMerge="1">
                  <a:txBody>
                    <a:bodyPr/>
                    <a:lstStyle/>
                    <a:p>
                      <a:endParaRPr lang="en-US" dirty="0"/>
                    </a:p>
                  </a:txBody>
                  <a:tcPr/>
                </a:tc>
                <a:tc>
                  <a:txBody>
                    <a:bodyPr/>
                    <a:lstStyle/>
                    <a:p>
                      <a:r>
                        <a:rPr lang="en-US" dirty="0" smtClean="0">
                          <a:latin typeface="Cambria" pitchFamily="18" charset="0"/>
                          <a:ea typeface="Cambria" pitchFamily="18" charset="0"/>
                        </a:rPr>
                        <a:t>Validation</a:t>
                      </a:r>
                      <a:endParaRPr lang="en-US" dirty="0">
                        <a:latin typeface="Cambria" pitchFamily="18" charset="0"/>
                        <a:ea typeface="Cambria" pitchFamily="18" charset="0"/>
                      </a:endParaRPr>
                    </a:p>
                  </a:txBody>
                  <a:tcPr/>
                </a:tc>
                <a:tc>
                  <a:txBody>
                    <a:bodyPr/>
                    <a:lstStyle/>
                    <a:p>
                      <a:r>
                        <a:rPr lang="en-US" dirty="0" smtClean="0">
                          <a:latin typeface="Cambria" pitchFamily="18" charset="0"/>
                          <a:ea typeface="Cambria" pitchFamily="18" charset="0"/>
                        </a:rPr>
                        <a:t>63%</a:t>
                      </a:r>
                      <a:endParaRPr lang="en-US" dirty="0">
                        <a:latin typeface="Cambria" pitchFamily="18" charset="0"/>
                        <a:ea typeface="Cambria" pitchFamily="18" charset="0"/>
                      </a:endParaRPr>
                    </a:p>
                  </a:txBody>
                  <a:tcPr/>
                </a:tc>
              </a:tr>
              <a:tr h="370840">
                <a:tc vMerge="1">
                  <a:txBody>
                    <a:bodyPr/>
                    <a:lstStyle/>
                    <a:p>
                      <a:endParaRPr lang="en-US" dirty="0"/>
                    </a:p>
                  </a:txBody>
                  <a:tcPr/>
                </a:tc>
                <a:tc>
                  <a:txBody>
                    <a:bodyPr/>
                    <a:lstStyle/>
                    <a:p>
                      <a:r>
                        <a:rPr lang="en-US" dirty="0" smtClean="0">
                          <a:latin typeface="Cambria" pitchFamily="18" charset="0"/>
                          <a:ea typeface="Cambria" pitchFamily="18" charset="0"/>
                        </a:rPr>
                        <a:t>Test</a:t>
                      </a:r>
                      <a:endParaRPr lang="en-US" dirty="0">
                        <a:latin typeface="Cambria" pitchFamily="18" charset="0"/>
                        <a:ea typeface="Cambria" pitchFamily="18" charset="0"/>
                      </a:endParaRPr>
                    </a:p>
                  </a:txBody>
                  <a:tcPr/>
                </a:tc>
                <a:tc>
                  <a:txBody>
                    <a:bodyPr/>
                    <a:lstStyle/>
                    <a:p>
                      <a:r>
                        <a:rPr lang="en-US" dirty="0" smtClean="0">
                          <a:latin typeface="Cambria" pitchFamily="18" charset="0"/>
                          <a:ea typeface="Cambria" pitchFamily="18" charset="0"/>
                        </a:rPr>
                        <a:t>72%</a:t>
                      </a:r>
                      <a:endParaRPr lang="en-US" dirty="0">
                        <a:latin typeface="Cambria" pitchFamily="18" charset="0"/>
                        <a:ea typeface="Cambria" pitchFamily="18" charset="0"/>
                      </a:endParaRPr>
                    </a:p>
                  </a:txBody>
                  <a:tcPr/>
                </a:tc>
              </a:tr>
            </a:tbl>
          </a:graphicData>
        </a:graphic>
      </p:graphicFrame>
    </p:spTree>
    <p:extLst>
      <p:ext uri="{BB962C8B-B14F-4D97-AF65-F5344CB8AC3E}">
        <p14:creationId xmlns:p14="http://schemas.microsoft.com/office/powerpoint/2010/main" val="999675924"/>
      </p:ext>
    </p:extLst>
  </p:cSld>
  <p:clrMapOvr>
    <a:masterClrMapping/>
  </p:clrMapOvr>
  <p:transition spd="slow">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and Discussion</a:t>
            </a:r>
          </a:p>
        </p:txBody>
      </p:sp>
      <p:sp>
        <p:nvSpPr>
          <p:cNvPr id="3" name="Content Placeholder 2"/>
          <p:cNvSpPr>
            <a:spLocks noGrp="1"/>
          </p:cNvSpPr>
          <p:nvPr>
            <p:ph idx="1"/>
          </p:nvPr>
        </p:nvSpPr>
        <p:spPr>
          <a:xfrm>
            <a:off x="899592" y="1268760"/>
            <a:ext cx="7787208" cy="5086800"/>
          </a:xfrm>
        </p:spPr>
        <p:txBody>
          <a:bodyPr/>
          <a:lstStyle/>
          <a:p>
            <a:r>
              <a:rPr lang="en-US" sz="2000" dirty="0" smtClean="0"/>
              <a:t>Confusion matrix for prediction with test data:</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700808"/>
            <a:ext cx="8352928" cy="5013175"/>
          </a:xfrm>
          <a:prstGeom prst="rect">
            <a:avLst/>
          </a:prstGeom>
        </p:spPr>
      </p:pic>
    </p:spTree>
    <p:extLst>
      <p:ext uri="{BB962C8B-B14F-4D97-AF65-F5344CB8AC3E}">
        <p14:creationId xmlns:p14="http://schemas.microsoft.com/office/powerpoint/2010/main" val="3798434755"/>
      </p:ext>
    </p:extLst>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and Discussion</a:t>
            </a:r>
          </a:p>
        </p:txBody>
      </p:sp>
      <p:sp>
        <p:nvSpPr>
          <p:cNvPr id="3" name="Content Placeholder 2"/>
          <p:cNvSpPr>
            <a:spLocks noGrp="1"/>
          </p:cNvSpPr>
          <p:nvPr>
            <p:ph idx="1"/>
          </p:nvPr>
        </p:nvSpPr>
        <p:spPr/>
        <p:txBody>
          <a:bodyPr/>
          <a:lstStyle/>
          <a:p>
            <a:r>
              <a:rPr lang="en-US" dirty="0" smtClean="0"/>
              <a:t>Train </a:t>
            </a:r>
            <a:r>
              <a:rPr lang="en-US" dirty="0" err="1" smtClean="0"/>
              <a:t>vs</a:t>
            </a:r>
            <a:r>
              <a:rPr lang="en-US" dirty="0" smtClean="0"/>
              <a:t> Validation loss and accuracy</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442" y="2950662"/>
            <a:ext cx="4135557" cy="280831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3619" y="2963388"/>
            <a:ext cx="4252877" cy="2764131"/>
          </a:xfrm>
          <a:prstGeom prst="rect">
            <a:avLst/>
          </a:prstGeom>
        </p:spPr>
      </p:pic>
    </p:spTree>
    <p:extLst>
      <p:ext uri="{BB962C8B-B14F-4D97-AF65-F5344CB8AC3E}">
        <p14:creationId xmlns:p14="http://schemas.microsoft.com/office/powerpoint/2010/main" val="2965310140"/>
      </p:ext>
    </p:extLst>
  </p:cSld>
  <p:clrMapOvr>
    <a:masterClrMapping/>
  </p:clrMapOvr>
  <p:transition spd="slow">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and Feature work</a:t>
            </a:r>
            <a:endParaRPr lang="en-US" dirty="0"/>
          </a:p>
        </p:txBody>
      </p:sp>
      <p:sp>
        <p:nvSpPr>
          <p:cNvPr id="3" name="Content Placeholder 2"/>
          <p:cNvSpPr>
            <a:spLocks noGrp="1"/>
          </p:cNvSpPr>
          <p:nvPr>
            <p:ph idx="1"/>
          </p:nvPr>
        </p:nvSpPr>
        <p:spPr/>
        <p:txBody>
          <a:bodyPr/>
          <a:lstStyle/>
          <a:p>
            <a:pPr marL="68580" indent="0">
              <a:buNone/>
            </a:pPr>
            <a:r>
              <a:rPr lang="en-US" dirty="0" smtClean="0">
                <a:latin typeface="Cambria" pitchFamily="18" charset="0"/>
                <a:ea typeface="Cambria" pitchFamily="18" charset="0"/>
              </a:rPr>
              <a:t>Our model achieved 71% accuracy on test data. We have shortage of good quality data. We need </a:t>
            </a:r>
            <a:r>
              <a:rPr lang="en-US" dirty="0" err="1" smtClean="0">
                <a:latin typeface="Cambria" pitchFamily="18" charset="0"/>
                <a:ea typeface="Cambria" pitchFamily="18" charset="0"/>
              </a:rPr>
              <a:t>atleast</a:t>
            </a:r>
            <a:r>
              <a:rPr lang="en-US" dirty="0" smtClean="0">
                <a:latin typeface="Cambria" pitchFamily="18" charset="0"/>
                <a:ea typeface="Cambria" pitchFamily="18" charset="0"/>
              </a:rPr>
              <a:t> 600-1000 image per class to make a good model. But we had only 177 image per class.</a:t>
            </a:r>
            <a:endParaRPr lang="en-US" dirty="0">
              <a:latin typeface="Cambria" pitchFamily="18" charset="0"/>
              <a:ea typeface="Cambria" pitchFamily="18" charset="0"/>
            </a:endParaRPr>
          </a:p>
        </p:txBody>
      </p:sp>
    </p:spTree>
    <p:extLst>
      <p:ext uri="{BB962C8B-B14F-4D97-AF65-F5344CB8AC3E}">
        <p14:creationId xmlns:p14="http://schemas.microsoft.com/office/powerpoint/2010/main" val="532876344"/>
      </p:ext>
    </p:extLst>
  </p:cSld>
  <p:clrMapOvr>
    <a:masterClrMapping/>
  </p:clrMapOvr>
  <p:transition spd="slow">
    <p:pull/>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539</TotalTime>
  <Words>1168</Words>
  <Application>Microsoft Office PowerPoint</Application>
  <PresentationFormat>On-screen Show (4:3)</PresentationFormat>
  <Paragraphs>107</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Metro</vt:lpstr>
      <vt:lpstr>Plant Leaf Disease Identification System On Android</vt:lpstr>
      <vt:lpstr>Introduction</vt:lpstr>
      <vt:lpstr>Literature Review</vt:lpstr>
      <vt:lpstr>Literature Review</vt:lpstr>
      <vt:lpstr>Literature Review</vt:lpstr>
      <vt:lpstr>Literature Review</vt:lpstr>
      <vt:lpstr>Literature Review</vt:lpstr>
      <vt:lpstr>Objectives</vt:lpstr>
      <vt:lpstr>Dataset</vt:lpstr>
      <vt:lpstr>Dataset</vt:lpstr>
      <vt:lpstr>Data Augmentation</vt:lpstr>
      <vt:lpstr>Model Architecture</vt:lpstr>
      <vt:lpstr>Model Architecture</vt:lpstr>
      <vt:lpstr>Result and Discussion</vt:lpstr>
      <vt:lpstr>Result and Discussion</vt:lpstr>
      <vt:lpstr>Result and Discussion</vt:lpstr>
      <vt:lpstr>Result and Discussion</vt:lpstr>
      <vt:lpstr>Result and Discussion</vt:lpstr>
      <vt:lpstr>Result and Discussion</vt:lpstr>
      <vt:lpstr>Result and Discussion</vt:lpstr>
      <vt:lpstr>Conclusion and Feature 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Leaf Disease Identification System On Android</dc:title>
  <dc:creator>smart view</dc:creator>
  <cp:lastModifiedBy>smart view</cp:lastModifiedBy>
  <cp:revision>35</cp:revision>
  <dcterms:created xsi:type="dcterms:W3CDTF">2025-08-18T15:04:53Z</dcterms:created>
  <dcterms:modified xsi:type="dcterms:W3CDTF">2025-08-19T03:42:55Z</dcterms:modified>
</cp:coreProperties>
</file>